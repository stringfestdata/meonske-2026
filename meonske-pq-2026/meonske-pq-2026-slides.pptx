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443" r:id="rId2"/>
    <p:sldId id="358" r:id="rId3"/>
    <p:sldId id="258" r:id="rId4"/>
    <p:sldId id="442" r:id="rId5"/>
    <p:sldId id="394" r:id="rId6"/>
    <p:sldId id="427" r:id="rId7"/>
    <p:sldId id="428" r:id="rId8"/>
    <p:sldId id="445" r:id="rId9"/>
    <p:sldId id="446" r:id="rId10"/>
    <p:sldId id="447" r:id="rId11"/>
    <p:sldId id="441" r:id="rId12"/>
    <p:sldId id="444" r:id="rId13"/>
  </p:sldIdLst>
  <p:sldSz cx="18288000" cy="10287000"/>
  <p:notesSz cx="68580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Gidole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684158-E8C8-9BE0-21EB-718D906F94A5}" name="George Mount" initials="GM" userId="S::george@stringfestanalytics.com::22d0b802-afc6-4b8f-ba57-7a855d9692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orge Mount" initials="GM" lastIdx="9" clrIdx="0">
    <p:extLst>
      <p:ext uri="{19B8F6BF-5375-455C-9EA6-DF929625EA0E}">
        <p15:presenceInfo xmlns:p15="http://schemas.microsoft.com/office/powerpoint/2012/main" userId="57d2ab2a84d54c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3338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0F415A-091A-432A-AE8D-09DDAD3086E7}" v="6" dt="2025-10-30T19:28:34.6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78463" autoAdjust="0"/>
  </p:normalViewPr>
  <p:slideViewPr>
    <p:cSldViewPr>
      <p:cViewPr varScale="1">
        <p:scale>
          <a:sx n="33" d="100"/>
          <a:sy n="33" d="100"/>
        </p:scale>
        <p:origin x="779" y="2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A98A70-FA8C-4354-959C-C70678AC9BC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500C5-13F7-48FC-8160-C29AECF6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50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59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26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08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1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ACDEA-C8C0-23A0-37F0-FA47078CE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827F4C-496C-D145-4D47-9D144072E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325E3-485F-55E1-AA79-C76914575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F297A-726C-F992-AC57-68C8593ED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795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68C5E-FDDB-1B28-3525-CB514049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137B6A-568F-CF76-2315-23CAB2A9B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F5581-027D-7759-E221-7CCD75057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7DA13-8171-2698-9125-4765564EF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25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A9D77-397E-06BD-11CD-413A8EEBB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89ADE-5082-B25E-4242-35C36572B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70D94-A020-AEEA-84D6-4B5B4A816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2C7EA-F63E-906A-7B7F-48E407C74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57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10" Type="http://schemas.openxmlformats.org/officeDocument/2006/relationships/image" Target="../media/image17.jpeg"/><Relationship Id="rId4" Type="http://schemas.openxmlformats.org/officeDocument/2006/relationships/image" Target="../media/image11.png"/><Relationship Id="rId9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8C4F0-46FB-9D6C-7892-F1641D742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B0955CA-5850-7F57-5388-3431F0D913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71B123-6C3F-DC0C-33AD-E12D828C3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2847CD-6C22-B99C-A36F-CDEA90A7425C}"/>
              </a:ext>
            </a:extLst>
          </p:cNvPr>
          <p:cNvSpPr txBox="1"/>
          <p:nvPr/>
        </p:nvSpPr>
        <p:spPr>
          <a:xfrm>
            <a:off x="486137" y="2531318"/>
            <a:ext cx="119797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Streamlining Financial and Accounting Data Prep with Power Query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D5D3BA-7397-C015-9A82-346341616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55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/>
          <p:cNvSpPr txBox="1"/>
          <p:nvPr/>
        </p:nvSpPr>
        <p:spPr>
          <a:xfrm>
            <a:off x="781292" y="590309"/>
            <a:ext cx="1548692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About me</a:t>
            </a:r>
          </a:p>
        </p:txBody>
      </p:sp>
      <p:pic>
        <p:nvPicPr>
          <p:cNvPr id="3" name="Picture 4" descr="Advancing into Analytics Cover Image">
            <a:extLst>
              <a:ext uri="{FF2B5EF4-FFF2-40B4-BE49-F238E27FC236}">
                <a16:creationId xmlns:a16="http://schemas.microsoft.com/office/drawing/2014/main" id="{588F684B-18EF-D76C-5F7B-15E4BAD60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0913" y="456356"/>
            <a:ext cx="3646936" cy="476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Free photos of Cleveland">
            <a:extLst>
              <a:ext uri="{FF2B5EF4-FFF2-40B4-BE49-F238E27FC236}">
                <a16:creationId xmlns:a16="http://schemas.microsoft.com/office/drawing/2014/main" id="{CBA53EEE-E3E1-D99E-A4DC-1C4DD2E6C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601" y="2838028"/>
            <a:ext cx="7531585" cy="5013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7E0F267-87DF-961E-1FAA-47FD4F27A5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758" y="6210300"/>
            <a:ext cx="7448309" cy="5462681"/>
          </a:xfrm>
          <a:prstGeom prst="rect">
            <a:avLst/>
          </a:prstGeom>
        </p:spPr>
      </p:pic>
      <p:pic>
        <p:nvPicPr>
          <p:cNvPr id="1026" name="Picture 2" descr="Excel MVP Led Training - The Best Way to Learn Excel.">
            <a:extLst>
              <a:ext uri="{FF2B5EF4-FFF2-40B4-BE49-F238E27FC236}">
                <a16:creationId xmlns:a16="http://schemas.microsoft.com/office/drawing/2014/main" id="{1541E3A8-702A-355A-01A5-FFB43F9DE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268" y="8334375"/>
            <a:ext cx="4028188" cy="1615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Modern data analytics in Excel book cover">
            <a:extLst>
              <a:ext uri="{FF2B5EF4-FFF2-40B4-BE49-F238E27FC236}">
                <a16:creationId xmlns:a16="http://schemas.microsoft.com/office/drawing/2014/main" id="{4561131B-5250-BD3D-CCD7-1AB4619C9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1" y="2855703"/>
            <a:ext cx="3513720" cy="460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linkedinlearninginstructor #linkedinlearning | Thais Cooke | 80 comments">
            <a:extLst>
              <a:ext uri="{FF2B5EF4-FFF2-40B4-BE49-F238E27FC236}">
                <a16:creationId xmlns:a16="http://schemas.microsoft.com/office/drawing/2014/main" id="{8352FEA3-9CFE-D937-CF4C-B6FA82CCA4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8800" y="815983"/>
            <a:ext cx="333375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Objectives for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Import and combine key financial data sources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Clean and standardize data for analysis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Automate refreshable reporting workflows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Load into Excel or Power Pivot for insights</a:t>
            </a: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29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88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/>
          <p:cNvSpPr txBox="1"/>
          <p:nvPr/>
        </p:nvSpPr>
        <p:spPr>
          <a:xfrm>
            <a:off x="781292" y="590309"/>
            <a:ext cx="154869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/>
              </a:rPr>
              <a:t>Power Query as Excel’s ETL Tool</a:t>
            </a:r>
          </a:p>
        </p:txBody>
      </p:sp>
    </p:spTree>
    <p:extLst>
      <p:ext uri="{BB962C8B-B14F-4D97-AF65-F5344CB8AC3E}">
        <p14:creationId xmlns:p14="http://schemas.microsoft.com/office/powerpoint/2010/main" val="4027644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BCAF59D-51FA-64A2-5C81-91C0121242B6}"/>
              </a:ext>
            </a:extLst>
          </p:cNvPr>
          <p:cNvGrpSpPr/>
          <p:nvPr/>
        </p:nvGrpSpPr>
        <p:grpSpPr>
          <a:xfrm>
            <a:off x="907648" y="1638300"/>
            <a:ext cx="4959752" cy="4645364"/>
            <a:chOff x="907648" y="1638300"/>
            <a:chExt cx="4959752" cy="46453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1A4CA75-4F0C-734D-D911-6B7984C1C4CE}"/>
                </a:ext>
              </a:extLst>
            </p:cNvPr>
            <p:cNvSpPr txBox="1"/>
            <p:nvPr/>
          </p:nvSpPr>
          <p:spPr>
            <a:xfrm>
              <a:off x="1295400" y="1638300"/>
              <a:ext cx="4572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latin typeface="Gidole" panose="02000503000000000000" pitchFamily="50" charset="0"/>
                </a:rPr>
                <a:t>1. EXTRACT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E3E4C93-4E03-6EE1-30DD-ABC983160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7648" y="2794615"/>
              <a:ext cx="2156143" cy="1120074"/>
            </a:xfrm>
            <a:prstGeom prst="rect">
              <a:avLst/>
            </a:prstGeom>
          </p:spPr>
        </p:pic>
        <p:pic>
          <p:nvPicPr>
            <p:cNvPr id="6" name="Picture 2" descr="Wordpress, Web, Design, Website, Cms, Logo, Blog">
              <a:extLst>
                <a:ext uri="{FF2B5EF4-FFF2-40B4-BE49-F238E27FC236}">
                  <a16:creationId xmlns:a16="http://schemas.microsoft.com/office/drawing/2014/main" id="{283CE48A-49BC-D7F1-9464-94B2D3CAC5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2310" y="3222617"/>
              <a:ext cx="2233568" cy="1191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Microsoft Excel - Wikipedia">
              <a:extLst>
                <a:ext uri="{FF2B5EF4-FFF2-40B4-BE49-F238E27FC236}">
                  <a16:creationId xmlns:a16="http://schemas.microsoft.com/office/drawing/2014/main" id="{CA09E867-E7CC-5FB7-A4B5-8A51B9DCD7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7041" y="4408144"/>
              <a:ext cx="2016763" cy="1875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E2A9C13-529B-1C62-14D6-8BE81E989A1C}"/>
              </a:ext>
            </a:extLst>
          </p:cNvPr>
          <p:cNvGrpSpPr/>
          <p:nvPr/>
        </p:nvGrpSpPr>
        <p:grpSpPr>
          <a:xfrm>
            <a:off x="6019799" y="1638299"/>
            <a:ext cx="6019801" cy="5022604"/>
            <a:chOff x="6019799" y="1638299"/>
            <a:chExt cx="6019801" cy="502260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1E5A6EC-084D-F3FA-ECAC-F47382628C51}"/>
                </a:ext>
              </a:extLst>
            </p:cNvPr>
            <p:cNvSpPr txBox="1"/>
            <p:nvPr/>
          </p:nvSpPr>
          <p:spPr>
            <a:xfrm>
              <a:off x="6329774" y="1638299"/>
              <a:ext cx="570982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>
                  <a:latin typeface="Gidole" panose="02000503000000000000" pitchFamily="50" charset="0"/>
                </a:rPr>
                <a:t>2. TRANSFORM</a:t>
              </a:r>
            </a:p>
          </p:txBody>
        </p:sp>
        <p:pic>
          <p:nvPicPr>
            <p:cNvPr id="10" name="Picture 6" descr="brown push broom on dust pan">
              <a:extLst>
                <a:ext uri="{FF2B5EF4-FFF2-40B4-BE49-F238E27FC236}">
                  <a16:creationId xmlns:a16="http://schemas.microsoft.com/office/drawing/2014/main" id="{C186F089-2F90-A387-F003-153754CAC2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2206" y="2822553"/>
              <a:ext cx="2233568" cy="1675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8" descr="Tee, Tea Bags, Teas, Drink, Herbal Tea, Fruit Tea">
              <a:extLst>
                <a:ext uri="{FF2B5EF4-FFF2-40B4-BE49-F238E27FC236}">
                  <a16:creationId xmlns:a16="http://schemas.microsoft.com/office/drawing/2014/main" id="{EFD04E87-1CBD-64DF-CFED-2152F37EC0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97808" y="3864697"/>
              <a:ext cx="2651237" cy="17536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0" descr="Construction, Worker, Welding, Welder, Industry, Metal">
              <a:extLst>
                <a:ext uri="{FF2B5EF4-FFF2-40B4-BE49-F238E27FC236}">
                  <a16:creationId xmlns:a16="http://schemas.microsoft.com/office/drawing/2014/main" id="{B073273D-9AF6-3C79-5F49-12B79949B9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9799" y="4901696"/>
              <a:ext cx="2651237" cy="17592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CBD71F0-8BE8-15B2-E49F-AC56D8449D6D}"/>
              </a:ext>
            </a:extLst>
          </p:cNvPr>
          <p:cNvGrpSpPr/>
          <p:nvPr/>
        </p:nvGrpSpPr>
        <p:grpSpPr>
          <a:xfrm>
            <a:off x="12385964" y="1638299"/>
            <a:ext cx="5415806" cy="4656484"/>
            <a:chOff x="12385964" y="1638299"/>
            <a:chExt cx="5415806" cy="4656484"/>
          </a:xfrm>
        </p:grpSpPr>
        <p:pic>
          <p:nvPicPr>
            <p:cNvPr id="16" name="Picture 15" descr="A close up of a persons hand&#10;&#10;Description automatically generated">
              <a:extLst>
                <a:ext uri="{FF2B5EF4-FFF2-40B4-BE49-F238E27FC236}">
                  <a16:creationId xmlns:a16="http://schemas.microsoft.com/office/drawing/2014/main" id="{5706A98C-1A3C-9982-BA91-67D78BD01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73000" y="2822553"/>
              <a:ext cx="5228770" cy="347223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48BC3C-FBAE-50C3-4CC5-A71345C1244F}"/>
                </a:ext>
              </a:extLst>
            </p:cNvPr>
            <p:cNvSpPr txBox="1"/>
            <p:nvPr/>
          </p:nvSpPr>
          <p:spPr>
            <a:xfrm>
              <a:off x="12385964" y="1638299"/>
              <a:ext cx="4572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latin typeface="Gidole" panose="02000503000000000000" pitchFamily="50" charset="0"/>
                </a:rPr>
                <a:t>3. LOAD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5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What did we do before Power Query?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File: </a:t>
            </a:r>
            <a:r>
              <a:rPr lang="en-US" sz="4400" dirty="0">
                <a:solidFill>
                  <a:srgbClr val="646464"/>
                </a:solidFill>
                <a:latin typeface="Consolas" panose="020B0609020204030204" pitchFamily="49" charset="0"/>
              </a:rPr>
              <a:t>wholesale-customers.xlsx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How would you make this data “PivotTable-ready?”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646464"/>
              </a:solidFill>
              <a:latin typeface="Plus Jakarta Display"/>
            </a:endParaRP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04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B385F-75B0-8C2D-8324-6DDA73273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D5958B4-2AFE-68C5-CFF2-7F223F9F1C7E}"/>
              </a:ext>
            </a:extLst>
          </p:cNvPr>
          <p:cNvSpPr txBox="1"/>
          <p:nvPr/>
        </p:nvSpPr>
        <p:spPr>
          <a:xfrm>
            <a:off x="520861" y="170082"/>
            <a:ext cx="119797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Data profiling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93B30-8AE6-9DE4-B016-3EC047C53E3C}"/>
              </a:ext>
            </a:extLst>
          </p:cNvPr>
          <p:cNvSpPr txBox="1"/>
          <p:nvPr/>
        </p:nvSpPr>
        <p:spPr>
          <a:xfrm>
            <a:off x="520861" y="3191948"/>
            <a:ext cx="1439312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File: </a:t>
            </a:r>
            <a:r>
              <a:rPr lang="en-US" sz="4400" dirty="0">
                <a:solidFill>
                  <a:srgbClr val="646464"/>
                </a:solidFill>
                <a:latin typeface="Consolas" panose="020B0609020204030204" pitchFamily="49" charset="0"/>
              </a:rPr>
              <a:t>star.xlsx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Load into Power Query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Explore via Data Preview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Refer to demo notes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1FB2E585-C762-44D1-D707-A08DCC54C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71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C1D9E-0306-060B-F13A-97E83E281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9BE9E26-8BEB-3C48-B6BD-3B533B34E2E1}"/>
              </a:ext>
            </a:extLst>
          </p:cNvPr>
          <p:cNvSpPr txBox="1"/>
          <p:nvPr/>
        </p:nvSpPr>
        <p:spPr>
          <a:xfrm>
            <a:off x="520861" y="170082"/>
            <a:ext cx="119797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Demo: Manipulating rows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5AD4C9-CFCC-8E07-292E-6A898FCC5F35}"/>
              </a:ext>
            </a:extLst>
          </p:cNvPr>
          <p:cNvSpPr txBox="1"/>
          <p:nvPr/>
        </p:nvSpPr>
        <p:spPr>
          <a:xfrm>
            <a:off x="520861" y="3191948"/>
            <a:ext cx="143931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File: </a:t>
            </a:r>
            <a:r>
              <a:rPr lang="en-US" sz="4400" dirty="0">
                <a:solidFill>
                  <a:srgbClr val="646464"/>
                </a:solidFill>
                <a:latin typeface="Consolas" panose="020B0609020204030204" pitchFamily="49" charset="0"/>
              </a:rPr>
              <a:t>office-rsvps.xlsx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Common data quality issues</a:t>
            </a:r>
          </a:p>
          <a:p>
            <a:pPr marL="1143000" lvl="1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Blanks</a:t>
            </a:r>
          </a:p>
          <a:p>
            <a:pPr marL="1143000" lvl="1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Duplicates</a:t>
            </a:r>
          </a:p>
          <a:p>
            <a:pPr marL="1143000" lvl="1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Typos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Refresh workflow to repeat data cleaning steps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6819C79-BD97-32D7-9D50-FB66A1B26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85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34FF0-516B-57FA-C6B2-2BFBAD32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062DBE9-28CC-AC9D-51FA-2E385AA44E2A}"/>
              </a:ext>
            </a:extLst>
          </p:cNvPr>
          <p:cNvSpPr txBox="1"/>
          <p:nvPr/>
        </p:nvSpPr>
        <p:spPr>
          <a:xfrm>
            <a:off x="520861" y="170082"/>
            <a:ext cx="119797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Demo: Unpivot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A0C6C4-61C7-1F9E-0E41-333242A186AA}"/>
              </a:ext>
            </a:extLst>
          </p:cNvPr>
          <p:cNvSpPr txBox="1"/>
          <p:nvPr/>
        </p:nvSpPr>
        <p:spPr>
          <a:xfrm>
            <a:off x="520861" y="3191948"/>
            <a:ext cx="143931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Let’s to back to </a:t>
            </a:r>
            <a:r>
              <a:rPr lang="en-US" sz="4400" dirty="0">
                <a:solidFill>
                  <a:srgbClr val="646464"/>
                </a:solidFill>
                <a:latin typeface="Consolas" panose="020B0609020204030204" pitchFamily="49" charset="0"/>
              </a:rPr>
              <a:t>wholesale-customers.xlsx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i="1" dirty="0">
                <a:solidFill>
                  <a:srgbClr val="646464"/>
                </a:solidFill>
                <a:latin typeface="Plus Jakarta Display"/>
              </a:rPr>
              <a:t>Now </a:t>
            </a: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how can we prepare this for PivotTable analysis? </a:t>
            </a:r>
            <a:endParaRPr lang="en-US" sz="4400" i="1" dirty="0">
              <a:solidFill>
                <a:srgbClr val="646464"/>
              </a:solidFill>
              <a:latin typeface="Plus Jakarta Display"/>
            </a:endParaRP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C998993F-4F6F-FA1E-3B9E-2DF7498C3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39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96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DA113-87A6-58E7-97BB-F0988D841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606C277-932B-C5B8-5450-C190D96E33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DE401F-A31A-E798-C7B0-A9BF45C79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CF2D6A-A273-6612-1B2F-EFFC6F301998}"/>
              </a:ext>
            </a:extLst>
          </p:cNvPr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rgbClr val="CF3338"/>
                </a:solidFill>
                <a:latin typeface="Pragmatica" panose="020B0403040502020204" pitchFamily="34" charset="0"/>
              </a:rPr>
              <a:t>THANK YOU</a:t>
            </a:r>
            <a:endParaRPr lang="en-US" sz="5400" b="1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93975D-E8F6-E5BF-6DEE-95A086B04F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386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2490</TotalTime>
  <Words>196</Words>
  <Application>Microsoft Office PowerPoint</Application>
  <PresentationFormat>Custom</PresentationFormat>
  <Paragraphs>44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Aliens &amp; cows</vt:lpstr>
      <vt:lpstr>Consolas</vt:lpstr>
      <vt:lpstr>Arial</vt:lpstr>
      <vt:lpstr>Plus Jakarta Display</vt:lpstr>
      <vt:lpstr>Pragmatica</vt:lpstr>
      <vt:lpstr>Gidole</vt:lpstr>
      <vt:lpstr>Calibri</vt:lpstr>
      <vt:lpstr>Normafixed Tryout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excel-statistics-for-business-analytics</dc:title>
  <dc:creator>User</dc:creator>
  <cp:lastModifiedBy>George Mount</cp:lastModifiedBy>
  <cp:revision>224</cp:revision>
  <dcterms:created xsi:type="dcterms:W3CDTF">2006-08-16T00:00:00Z</dcterms:created>
  <dcterms:modified xsi:type="dcterms:W3CDTF">2026-01-07T17:58:16Z</dcterms:modified>
  <dc:identifier>DADurESpNu8</dc:identifier>
</cp:coreProperties>
</file>