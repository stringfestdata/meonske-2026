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443" r:id="rId2"/>
    <p:sldId id="425" r:id="rId3"/>
    <p:sldId id="258" r:id="rId4"/>
    <p:sldId id="442" r:id="rId5"/>
    <p:sldId id="431" r:id="rId6"/>
    <p:sldId id="445" r:id="rId7"/>
    <p:sldId id="434" r:id="rId8"/>
    <p:sldId id="372" r:id="rId9"/>
    <p:sldId id="444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78463" autoAdjust="0"/>
  </p:normalViewPr>
  <p:slideViewPr>
    <p:cSldViewPr>
      <p:cViewPr varScale="1">
        <p:scale>
          <a:sx n="33" d="100"/>
          <a:sy n="33" d="100"/>
        </p:scale>
        <p:origin x="779" y="2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2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8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9A628-8666-E706-9B45-99121EB3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4715E-77B5-875B-96CD-B7D33D39F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C113A-B391-8AA0-3805-43C7B3EBB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D05D4-55F2-6D9F-20DF-AF47524D0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19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7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C4F0-46FB-9D6C-7892-F1641D74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0955CA-5850-7F57-5388-3431F0D913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71B123-6C3F-DC0C-33AD-E12D828C3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2847CD-6C22-B99C-A36F-CDEA90A7425C}"/>
              </a:ext>
            </a:extLst>
          </p:cNvPr>
          <p:cNvSpPr txBox="1"/>
          <p:nvPr/>
        </p:nvSpPr>
        <p:spPr>
          <a:xfrm>
            <a:off x="486137" y="2531318"/>
            <a:ext cx="11979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Building Financial and Accounting Data Models with Power Pivot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5D3BA-7397-C015-9A82-346341616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55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About me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675" y="195638"/>
            <a:ext cx="3130385" cy="40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91" y="6002696"/>
            <a:ext cx="7448309" cy="5462681"/>
          </a:xfrm>
          <a:prstGeom prst="rect">
            <a:avLst/>
          </a:prstGeom>
        </p:spPr>
      </p:pic>
      <p:pic>
        <p:nvPicPr>
          <p:cNvPr id="1026" name="Picture 2" descr="Modern data analytics in Excel book cover">
            <a:extLst>
              <a:ext uri="{FF2B5EF4-FFF2-40B4-BE49-F238E27FC236}">
                <a16:creationId xmlns:a16="http://schemas.microsoft.com/office/drawing/2014/main" id="{874ADA5E-A7A7-1D02-C728-513187DE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829" y="1736915"/>
            <a:ext cx="3437261" cy="450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crosoft Most Valuable Professional - Wikipedia">
            <a:extLst>
              <a:ext uri="{FF2B5EF4-FFF2-40B4-BE49-F238E27FC236}">
                <a16:creationId xmlns:a16="http://schemas.microsoft.com/office/drawing/2014/main" id="{36C71929-5967-B93D-05FE-E330D621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2" y="7832951"/>
            <a:ext cx="50577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Global Excel Summit (9-11 February 2022) - Microsoft Excel Conference">
            <a:extLst>
              <a:ext uri="{FF2B5EF4-FFF2-40B4-BE49-F238E27FC236}">
                <a16:creationId xmlns:a16="http://schemas.microsoft.com/office/drawing/2014/main" id="{A4A37758-F92B-49D0-9144-77DE1A40A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7664" y="4795613"/>
            <a:ext cx="2901909" cy="2901909"/>
          </a:xfrm>
          <a:prstGeom prst="rect">
            <a:avLst/>
          </a:prstGeom>
        </p:spPr>
      </p:pic>
      <p:pic>
        <p:nvPicPr>
          <p:cNvPr id="7" name="Picture 6" descr="linkedinlearninginstructor #linkedinlearning | Thais Cooke | 80 comments">
            <a:extLst>
              <a:ext uri="{FF2B5EF4-FFF2-40B4-BE49-F238E27FC236}">
                <a16:creationId xmlns:a16="http://schemas.microsoft.com/office/drawing/2014/main" id="{C1E81082-DC04-E8C8-AF35-69591438D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407" y="4935896"/>
            <a:ext cx="5185833" cy="2133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DDC47-548D-1287-3489-8B5D9DA3C477}"/>
              </a:ext>
            </a:extLst>
          </p:cNvPr>
          <p:cNvSpPr txBox="1"/>
          <p:nvPr/>
        </p:nvSpPr>
        <p:spPr>
          <a:xfrm>
            <a:off x="849234" y="2485315"/>
            <a:ext cx="66183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 help Excel users move from fragile spreadsheets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to confident, scalable analysis.</a:t>
            </a:r>
          </a:p>
        </p:txBody>
      </p:sp>
    </p:spTree>
    <p:extLst>
      <p:ext uri="{BB962C8B-B14F-4D97-AF65-F5344CB8AC3E}">
        <p14:creationId xmlns:p14="http://schemas.microsoft.com/office/powerpoint/2010/main" val="187290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Understand the Power Pivot data model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Create basic table relationships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Write simple DAX measures and calculated columns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Build dynamic, model-driven PivotTable reports</a:t>
            </a: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2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8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No more </a:t>
            </a:r>
            <a:r>
              <a:rPr lang="en-US" sz="8000" dirty="0" err="1">
                <a:latin typeface="Aliens &amp; cows" panose="00000500000000000000" pitchFamily="2" charset="0"/>
              </a:rPr>
              <a:t>Frankentables</a:t>
            </a:r>
            <a:endParaRPr lang="en-US" sz="8000" dirty="0">
              <a:latin typeface="Aliens &amp; cows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Starter files: data folder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What is the right way to analyze this data if we want to find total sales by person? 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Open a blank workbook to start…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Final workbook: superstore-data-model.xlsx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5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61D2-F4BD-9B7D-0CF4-77E5F7A0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3E0F42F-8EC8-8BDE-EB38-50EDAEE98AB8}"/>
              </a:ext>
            </a:extLst>
          </p:cNvPr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Creating measures for 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43C21-2A3A-C5BC-725B-61DCED98B41F}"/>
              </a:ext>
            </a:extLst>
          </p:cNvPr>
          <p:cNvSpPr txBox="1"/>
          <p:nvPr/>
        </p:nvSpPr>
        <p:spPr>
          <a:xfrm>
            <a:off x="520861" y="3191948"/>
            <a:ext cx="143931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Creating measures with DAX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Implicit vs explicit measures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Continue with your Superstore data model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11BA05CE-70C8-1A84-8710-0C43EE709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4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Time intelligence with Power Pivot and DAX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Adding a calendar table to enable consistent date-based calculations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Building year-to-date, year-over-year, and other time-intelligence measures with DAX</a:t>
            </a:r>
            <a:endParaRPr lang="en-US" sz="4200" i="1" dirty="0">
              <a:solidFill>
                <a:srgbClr val="707070"/>
              </a:solidFill>
              <a:latin typeface="Pragmatica" panose="020B0403040502020204" pitchFamily="34" charset="0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43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7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6171-63B5-2FB3-6A37-DDDA9502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EEF901C-5D98-6992-F389-FF47BA3557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550BB8-0878-3A29-5817-E5E4613A6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3D15AC-F568-8FD7-7EAC-DD7403C75673}"/>
              </a:ext>
            </a:extLst>
          </p:cNvPr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90E34-1F06-13F6-D880-A8E48719D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2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2508</TotalTime>
  <Words>183</Words>
  <Application>Microsoft Office PowerPoint</Application>
  <PresentationFormat>Custom</PresentationFormat>
  <Paragraphs>32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Aliens &amp; cows</vt:lpstr>
      <vt:lpstr>Arial</vt:lpstr>
      <vt:lpstr>Plus Jakarta Display</vt:lpstr>
      <vt:lpstr>Pragmatica</vt:lpstr>
      <vt:lpstr>Calibri</vt:lpstr>
      <vt:lpstr>Normafixed Tryout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225</cp:revision>
  <dcterms:created xsi:type="dcterms:W3CDTF">2006-08-16T00:00:00Z</dcterms:created>
  <dcterms:modified xsi:type="dcterms:W3CDTF">2026-01-07T18:51:15Z</dcterms:modified>
  <dc:identifier>DADurESpNu8</dc:identifier>
</cp:coreProperties>
</file>