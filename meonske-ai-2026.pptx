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0861" autoAdjust="0"/>
  </p:normalViewPr>
  <p:slideViewPr>
    <p:cSldViewPr snapToGrid="0" snapToObjects="1">
      <p:cViewPr varScale="1">
        <p:scale>
          <a:sx n="69" d="100"/>
          <a:sy n="69" d="100"/>
        </p:scale>
        <p:origin x="765"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8629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the Modern AI Excel Stack. I’m George Mount from Stringfest Analytics. Over the next hour, we’re going to look at what AI has actually added to Excel, when it makes sense to use it, and — just as importantly — when it doesn’t. This is a demonstration-based session: you’ll see real tools in action, not just slides.
Quick show of hands — how many of you use Excel every day? How many of you have tried Copilot in Excel? OK. Whether you’ve tried it or you’re skeptical, by the end of this hour you’ll have a clear framework for when AI helps and when a good old VLOOKUP or PivotTable is still your best friend.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background on me. I’m the author of Advancing Into Analytics and Modern Data Analytics in Excel, both from O’Reilly. I’m a Microsoft MVP, LinkedIn Learning instructor, and I’ve spoken at events like the Global Excel Summit. My focus is helping people like you — finance and accounting professionals — get more from Excel without needing a CS degree. I come at this from a practical angle, not a hype angle. I also work directly with teams on training and adoption — so everything I show you today comes from what I see working in real organizations, not just theory.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for our hour together. Notice the first one: knowing WHEN to use AI. That’s actually the most important takeaway. We’re going to spend some time on a decision framework before we touch any demos.
Objective two is Power Query — this is a preview for the hands-on lab. If you’re still copying and pasting from your ERP export into a reporting template every month, Power Query will change your life. It’s the number one tool in this room that most people don’t know well enough.
Three is Copilot — we’ll use it for things like exploring P/E ratios and writing executive summaries. Think of it as having a junior analyst who’s fast but needs supervision.
Four is automation. If you’ve ever thought “I run this same reconciliation check every Monday morning” — Office Scripts and Power Automate can do that for you while you’re getting coffee.
Five is the big picture: a framework you can actually use back at work, not just hype.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look at any AI tools, let’s talk about WHEN to use them. Most teams ask “How can we use Copilot for this?” or “Can AI replace this workflow?” Those questions usually come after a tool has already been chosen, not before. AI shows up as a solution looking for a problem. That’s where teams get into trouble.
The right first question is: “Should we be using AI here at all?” SAFE gives you a way to answer that. It’s not a checklist or a process — it’s a lens. Four questions that tell you how much freedom a task can tolerate.
• Stability: How consistent must the output be? If you run something today and again next month on the same data, does it need to give the exact same answer? Think about your month-end close. That trial balance HAS to tie out to the penny. That’s high stability — AI is risky here. But if you’re writing a variance commentary for your CFO? A slightly different wording each time is fine. That’s low stability.
• Ambiguity: How well-defined is the task? Calculating depreciation on a straight-line basis? Zero ambiguity — you could write it down as steps. Use a formula. Figuring out why SG&amp;A spiked 15% versus last quarter? High ambiguity. There’s no single right answer. That’s where AI’s flexible reasoning actually helps.
• Frequency: Is this a one-off or recurring? Here’s an important point: prompting is not automation. If something runs every week or every month, it should eventually be encoded in a deterministic workflow — Power Query, Office Scripts, something that doesn’t require you to type a prompt each time. If you’re doing a one-time competitive analysis? Copilot is great for that.
• Exposure: Who depends on the output? The more visible the result, the higher the cost of inconsistency or error. A quick internal sanity check on margins? Low exposure. A journal entry that hits the general ledger and gets audited? High exposure — you want deterministic tools.
These four dimensions don’t give you a yes or no on their own. What they do is surface risk. They tell you whether AI increases or decreases confidence in the outcome. In general, AI fits best when ambiguity is high, stability requirements are low, frequency is limited, and exposure is contained. As those conditions reverse, deterministic tools should take over.
SAFE helps you decide whether AI should even be considered. On the next slide, I’ll show you which tool to reach for. This framework comes from my blog at stringfestanalytics.com — I’ll share the link at the end.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we just covered the SAFE framework — the diagnostic lens. Now here’s the decision tool. This matrix takes two of those SAFE dimensions — Stability and Ambiguity — and turns them into a practical guide for which tool to reach for.
Let me define the axes first, because these words mean something specific.
STABILITY is about how consistent the output must be. If you run something today and again next month on the same data, does it need to give the exact same answer? If yes, that’s high stability. Monthly reporting, KPI calculations, reconciliations, anything your auditor might look at — high stability. If the result is a draft, a first look, something you’ll edit anyway — that’s low stability. You can tolerate variability.
AMBIGUITY is about how well-defined the task is. Low ambiguity means there’s a clear procedure: merge these two tables, calculate this ratio, filter these rows. You could write it down as steps. High ambiguity means the task requires exploration and judgment: why did revenue drop, what story does this data tell, how should we segment these customers. There’s no single right answer.
Here’s the key insight: AI introduces variability. That’s sometimes a feature and sometimes a liability. Stability tells you how much variability you can tolerate. Ambiguity tells you whether you even need the kind of flexible reasoning AI provides.
Now the four quadrants.
Top-left: RULES MUST HOLD. High stability, low ambiguity. This is classic Excel work. Power Query, formulas, PivotTables — they live here for a reason. Think of your month-end close. You pull trial balance data from your ERP, clean it in Power Query, run SUMIFS against your chart of accounts, and produce the same formatted output for your controller every single month. When inputs change, outputs change predictably. That is a feature, not a limitation. A VLOOKUP doesn’t hallucinate. A PivotTable doesn’t make up numbers. If leadership depends on the numbers, rules must hold. AI does NOT belong here.
Top-right: JUDGMENT ZONE. High stability, high ambiguity. This one is subtle. The outputs matter, but the rules aren’t fully settled. How do you classify a transaction that’s half consulting, half software? What’s the right threshold for your bad debt allowance? What counts as a “material” variance? These decisions require human judgment. AI can play a supporting role — maybe you ask Copilot “what are common approaches to materiality thresholds?” — but it should not be the authority. This is a human-in-the-loop zone by design.
Bottom-left: AI SWEET SPOT. Low stability, high ambiguity. This is where AI genuinely works best. Your CFO asks “why did margins change this quarter?” You need to explore the data, look at it from different angles, draft a narrative. Copilot is great here — ask it to summarize trends, create a quick chart, draft a commentary paragraph. The outputs are drafts, not deliverables. You’re not betting the company on it — you’re using it to think faster. AI belongs upstream in the analytical process. This is what that actually looks like.
Bottom-right: CONVENIENCE ZONE. Low stability, low ambiguity. Not everything needs to be engineered. Your colleague asks “hey, what’s the average revenue per customer in this list?” One-off, no one’s auditing it. Use whatever is fastest — a formula, Copilot, doesn’t matter. This quadrant gives you permission to just move on.
The critical distinction on this slide: a DETERMINISTIC SCRIPT gives the same answer every time. A PROBABILISTIC PROMPT may not. When someone in your org says “let’s just have Copilot do the month-end close,” this matrix is your pushback tool. And the rule of thumb: if leadership depends on the output, AI stays upstream.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address the two biggest concerns I hear in every session like this. I know some of you are thinking these right now, so let’s just put them on the table.
Hallucinations: Yes, AI can confidently produce wrong answers. Here’s a real example: I’ve seen Copilot write a SUMIFS formula that looked perfect — correct syntax, correct range references — but it picked the wrong criteria column. The formula ran without errors. It just gave the wrong number. If you’re in FP&amp;A and that number goes into a board deck, that’s a problem.
The mitigation is the same thing you already do: verify. When a junior analyst hands you a spreadsheet, do you just trust it? No. You spot-check the formulas. You trace the precedents. You compare it to last month’s numbers. Same thing with Copilot output. Treat it as a first draft from a fast but careless intern. Use AI for DRAFTS, not final answers. If the output matters — if it hits the general ledger, goes to a client, or gets audited — a human checks it before it leaves your desk.
Security: I hear this constantly — “I can’t put our financials into AI.” Here’s the thing: Microsoft 365 Copilot keeps your data within your existing tenant boundary. It’s the same compliance perimeter as SharePoint and OneDrive. Your AP data, your GL exports, your consolidation workbooks — they’re not leaving your organization’s boundary.
And let’s be honest — cloud-based machine learning has been in Excel for YEARS. Stock data types, the Ideas feature, Forecast Sheet, even AutoComplete — these all send data to Microsoft’s cloud. If your firm uses Office 365 with SharePoint, you’re already in this world. This is not a new risk category. It’s an evolution of risk you’re already managing.
Now, ChatGPT and other public tools ARE a different story — those DO send data outside your organization. Don’t paste your client’s financial statements into ChatGPT. But paid M365 Copilot? That’s inside your fence. Talk to your IT team about your tenant settings if you’re not sure.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cover this before the demos so you understand why everything I’m about to show uses Microsoft tools. It’s not because Copilot is the only AI out there — it’s because it’s the most practical choice for Excel work in a corporate environment.
M365 Copilot is your best starting point. It lives inside Excel — you don’t have to copy-paste data into a browser. It respects your tenant boundary, so your financial data stays inside your org. And it’s the tool your IT department is most likely to approve, because it’s already part of your Microsoft licensing conversation. That’s why all three demos today use Copilot or other Microsoft tools.
ChatGPT is great for learning and general questions. If you want to ask “explain the VLOOKUP vs. XLOOKUP difference” or “what’s the best way to structure a three-statement model?” — ChatGPT is solid. But your data goes to OpenAI’s servers. Don’t paste your client’s AP aging report in there unless your org has explicitly approved it.
Claude and others are strong at reasoning and writing. I use Claude personally for things like explaining complex formulas, reviewing code logic, and — full disclosure — this presentation was actually built with Claude. I described what I wanted, and it wrote the code to generate these slides, the prompt guide, the whole resource kit.
Now, the word “agent.” You’ll hear this a lot. Let me give you a plain-English definition. Most AI today works like a conversation: you ask a question, it gives an answer. An agent is different. You give it a GOAL — like “build me a summary tab and a chart tab from this data” — and it figures out the steps on its own. It decides what goes on each sheet, creates them, populates them. Multiple actions, one instruction.
You’ll see this in Demo 2 when we use Edit with Copilot. That’s an agent working inside your workbook. Claude has this too — their product called Cowork can read your files, write documents, create presentations, run code. The point isn’t which agent is best right now. The point is: this is where all of AI is heading. Soon you won’t be prompting one question at a time — you’ll hand it a goal and supervise the result.
For today though: Copilot is the version of this you can use inside Excel right now. That’s why we’re starting there.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 enough framework. Let’s see these ideas in action with three demos. We’ll start with Power Query — the deterministic foundation. Then Copilot for AI-assisted analysis. Then Office Scripts and Power Automate for automation. Each demo ties back to the SAFE framework we just covered.
Before we dive in, let me set up a question I know is going to come up: “Why are we using Power Query in Demo 1 for data cleaning, but Office Scripts in Demo 3? Aren’t they both automation?”
Great question. Think of it this way:
• Power Query is for transforming data. It takes messy data and makes it clean. It reshapes columns, fixes formatting, merges tables, filters rows. And here’s the key: it runs every time you refresh the query. So when next month’s GL export lands, you click Refresh and it cleans it the same way. Power Query is built into Excel under the Data tab.
• Office Scripts are for automating actions. They do things inside the workbook — run calculations, check values, write results to a log, format cells. And crucially, they can be triggered by Power Automate on a schedule or an event. Power Query can’t do that — it can’t run itself at 7am on Monday.
So in our demos: Power Query cleans the data (Demo 1), Copilot helps us explore and analyze it (Demo 2), and Office Scripts validate it and log the results automatically (Demo 3). Three different tools, three different jobs. They’re a stack, not competitors.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 Power Query. This is a preview for the hands-on lab session where we’ll go much deeper.
Key message: Power Query is the NUMBER ONE tool you should learn if you don’t already know it. How many of you are still doing data cleanup by hand — deleting blank rows, fixing capitalization, splitting columns with Text to Columns? Power Query does all of that, and it’s deterministic, auditable, and reproducible. Your boss can see exactly what you did. Your auditor can trace every step. Next month when the data refreshes, you click one button and it runs the same cleanup again.
If you’ve ever inherited someone’s spreadsheet and spent two hours figuring out what they did to the data — Power Query solves that. Every step is listed in plain English in the Applied Steps pane.
Here’s what we’ll do:
1. First, use Copilot to scan the EquitySnapshot table for data quality issues. This table has some messy data — inconsistent capitalization in Sector names, that kind of thing. Think of this like getting an export from your ERP where “Consulting” is sometimes “consulting” and sometimes “CONSULTING.” Copilot is good at spotting these patterns across hundreds of rows.
2. Then we switch to Power Query to actually build the cleaning steps. This is the deterministic part. We’ll standardize the sector names, fix any formatting issues. Same data in, same clean data out, every time. This is what you’d do with your AP export, your bank feed, your GL trial balance — any recurring data source.
3. Finally, paste the M code back into Copilot and ask it to help document what we did. This is great for SOX compliance or just making your work reviewable.
Notice the pattern: AI helps us FIND problems and DOCUMENT solutions, but Power Query does the actual work. That’s the right division of labor. When I work with finance teams, this is usually where we start — getting the data pipeline right before layering on any AI.
PROMPT 1: “Here is a table called EquitySnapshot. Review it for any potential data quality issues. Identify anything that looks inconsistent, unclear, or potentially incorrect. Do not fix anything yet. Just describe what you notice.”
PROMPT 2: “Based on your observations, outline a short step-by-step cleaning plan I could apply in Power Query.”
PROMPT 3 (after building in PQ): “Review the steps I’ve applied so far and suggest improvements to cleanliness, clarity, and structure. Don’t change the logic. Only make the transformations clearer.”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2: Copilot. Now we’re in AI territory. On the SAFE matrix, this is the “AI Sweet Spot” — low stability requirement, exploratory analysis.
Key message: Copilot is your assistant, not your replacement. Think of it like this: if your manager asked you to “take a first look at this data and tell me what jumps out,” Copilot is great for that. It’s the exploratory work you’d normally spend 20 minutes on — sorting, filtering, making a quick chart to see patterns.
What we’ll do:
1. Ask Copilot to find highest/lowest P/E ratios and make a chart. In your world, this is like asking “which cost centers are over budget?” or “which vendors have the highest outstanding balances?” Watch how Copilot reasons through it — it picks the right column, sorts it, creates the visual. Fast. But does it pick the right chart type? Does the axis make sense? You check.
2. Ask it to write an executive summary of sector valuation differences. This is the kind of narrative you’d write for a quarterly business review or a board deck. Copilot gives you a solid first draft in 10 seconds. But would you send this to your CFO without reading it? No. You edit the tone, check the numbers, add context only you know — like the fact that one sector looks low because of a one-time write-down.
3. Use Edit with Copilot (this used to be called Agent Mode) for a multi-step task: create a Snapshot sheet with a written summary AND a Chart sheet with a visualization. In the real world, this is like saying “build me a dashboard tab and a summary tab from this data.” Copilot coordinates across sheets now — that’s new.
[SAY TO AUDIENCE: “This is actually an example of what people mean when they say ‘AI agent.’ Instead of you asking one question and getting one answer, you gave it a goal — build me two sheets — and it figured out the steps on its own. It decided what to put on each sheet, created them, and populated them. That’s an agent: AI that takes multiple actions to accomplish a goal. We’ll talk more about where this is heading on the AI Tools slide.”]
Point out: Every time we look at Copilot’s output, we’re checking it. That’s the human-in-the-loop principle from the hallucination slide. Same way you wouldn’t let a new hire post journal entries without review. One thing I see when I train accounting teams: once people get comfortable with this verify-then-accept rhythm, the anxiety mostly goes away.
[Aside for the audience: “In your own work, swap P/E for whatever metric matters — aging buckets, margin percentages, budget variances. The prompting pattern is the same.”]
PROMPT 1: “Using the EquitySnapshotClean table, identify the stocks with the highest and lowest P/E ratio and create a bar chart comparing all P/E values.”
PROMPT 2: “Write a short executive summary describing sector valuation differences using this dataset.”
[This is the “write the variance commentary” use case. Copilot drafts it; you refine it.]
PROMPT 3 (Edit with Copilot): “Using EquitySnapshotClean, create two sheets: 1. ‘Snapshot’ with a written summary of sector valuations. 2. ‘Chart’ with a visualization comparing P/E across tickers. Don’t modify the source dataset.”
[Notice I said “Don’t modify the source dataset.” Always protect your source data. Same reason you never type over imported GL data.]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3: Office Scripts + Power Automate. We’re back on the deterministic side of the matrix now — no AI here, just reliable automation.
Key message: Not everything needs AI. Sometimes what you really need is a script that does the same boring checks every time without forgetting a step.
[CALLBACK: “Remember before the demos I said Power Query cleans data, Office Scripts automate actions? Here’s the action side. We’re not reshaping or transforming data here — we’re checking it and logging the results. Different job, different tool.”]
[WHAT THE AUDIENCE IS SEEING: Explain that Office Scripts is a feature in Excel for the web. You go to the Automate tab, and you can write or record small programs that do things inside your workbook. Think of it like a macro, but it lives in the cloud and can be triggered automatically.]
What we’ll do:
1. Open the Automate tab. I’ve already written a short script. Before I run it, let me walk you through what it does in plain English:
   • Check 1: It looks at every row and asks, is the Price filled in? Is it a positive number? Think of this like checking that every line on your invoice has a dollar amount.
   • Check 2: It does a math check. Does P/E equal Price divided by EPS? Same idea as checking that debits equal credits — do the numbers tie?
   • Check 3: Are there any completely blank rows? Did something get dropped? Like checking that your bank feed imported all the transactions.
The script figures out how many rows there are on its own — so if you add more data next month, it still works. You don’t have to touch the code.
[SAY TO AUDIENCE: “Don’t worry about the code syntax. You don’t need to memorize this. The point is the concept: the script reads the data, runs the checks, and writes the results.”]
2. Now let’s run it. [Click Run.] Flip over to the Logs sheet. See? Three rows just appeared: a timestamp, the name of each check, PASS or FAIL, and a plain-English detail. That’s your audit trail. Run it again — three more rows. Every time you run it, it appends. So if this ran every Monday morning, you’d have a running log, week after week.
3. And that’s where Power Automate comes in. [Show the Power Automate flow briefly on YOUR screen. NOTE: The link in the prompt guide goes to my Power Automate environment — it won’t open for the audience since they’re not in my tenant. Just show it on the projector and walk through what they’re seeing.]
[SAY TO AUDIENCE: “I’m going to show you my Power Automate setup. You won’t be able to click this link yourself since it’s in my Microsoft 365 environment, but I want you to see how simple the setup is.”]
Walk through: You pick a trigger — say, “Every Monday at 7am” or “When a file is created in this SharePoint folder.” Then you add one action: “Run script,” pick the workbook, pick the script. That’s it. Two steps.
Imagine: your ERP export drops into SharePoint overnight, the script runs automatically, and by the time you get your coffee, the Logs sheet already tells you whether everything looks good or if something needs attention.
This kind of automation is one of the biggest quick wins I see with teams — a 20-minute setup that saves hours every month. If you’re curious about what that looks like at your org, happy to talk after.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to remember.
1. Start with structure, not AI. Power Query and good data design come before any AI tool. If your data is a mess, Copilot will just give you faster wrong answers.
2. Scripts are certain; prompts are not. A Power Query step or an Office Script gives the same result every time. A Copilot prompt might not. Know which one you need.
3. Copilot is your assistant, not your replacement. Always verify. Stay in the loop. Use it to draft formulas, explore data, write summaries — but you make the final call.
4. Security concerns are real but manageable. M365 Copilot stays in your tenant. Cloud ML has been in Excel for years.
If you remember nothing else: “Should we?” before “How can we?”
Your next step: Come to the Power Query lab, and then pick one real task this week and run it through the SAFE framework before reaching for AI. That’s how you make this stick. And if you want to go further, grab the resource page — I’ll show you that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I’m happy to take questions now or catch me after the session. My email is on the screen.
I’ve put together a resource page with the prompt guide from today, the SAFE framework reference, and the demo workbook. That URL is on the slide — stringfestanalytics.com/meonske-2026. Grab it while today’s session is fresh.
And if your team is thinking about rolling out Copilot or modernizing your Excel workflows, that’s what I do — I work with finance and accounting teams on training and adoption. Grab me after or shoot me an email.
And don’t forget the Power Query lab session — that’s where we go hands-on with everything from Demo 1.</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all. Grab the resource page if you haven’t already — stringfestanalytics.com/meonske-2026. See you in the Power Query lab. And if you want to talk about what this looks like at your organization, catch me in the hall or send me an email. Have a great rest of the conference.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swiy.co/Meonske26"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swiy.co/Meonske26"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ECE1"/>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F3338"/>
          </a:solidFill>
          <a:ln/>
        </p:spPr>
        <p:txBody>
          <a:bodyPr/>
          <a:lstStyle/>
          <a:p>
            <a:endParaRPr lang="en-US"/>
          </a:p>
        </p:txBody>
      </p:sp>
      <p:sp>
        <p:nvSpPr>
          <p:cNvPr id="3" name="Shape 1"/>
          <p:cNvSpPr/>
          <p:nvPr/>
        </p:nvSpPr>
        <p:spPr>
          <a:xfrm>
            <a:off x="6858000" y="0"/>
            <a:ext cx="2286000" cy="5143500"/>
          </a:xfrm>
          <a:prstGeom prst="rect">
            <a:avLst/>
          </a:prstGeom>
          <a:solidFill>
            <a:srgbClr val="CF3338"/>
          </a:solidFill>
          <a:ln/>
        </p:spPr>
        <p:txBody>
          <a:bodyPr/>
          <a:lstStyle/>
          <a:p>
            <a:endParaRPr lang="en-US"/>
          </a:p>
        </p:txBody>
      </p:sp>
      <p:sp>
        <p:nvSpPr>
          <p:cNvPr id="4" name="Text 2"/>
          <p:cNvSpPr/>
          <p:nvPr/>
        </p:nvSpPr>
        <p:spPr>
          <a:xfrm>
            <a:off x="640080" y="365760"/>
            <a:ext cx="4572000" cy="365760"/>
          </a:xfrm>
          <a:prstGeom prst="rect">
            <a:avLst/>
          </a:prstGeom>
          <a:noFill/>
          <a:ln/>
        </p:spPr>
        <p:txBody>
          <a:bodyPr wrap="square" lIns="0" tIns="0" rIns="0" bIns="0" rtlCol="0" anchor="ctr"/>
          <a:lstStyle/>
          <a:p>
            <a:pPr marL="0" indent="0">
              <a:buNone/>
            </a:pPr>
            <a:r>
              <a:rPr lang="en-US" sz="1300" dirty="0">
                <a:solidFill>
                  <a:srgbClr val="CF3338"/>
                </a:solidFill>
                <a:latin typeface="Arial Black" pitchFamily="34" charset="0"/>
                <a:ea typeface="Arial Black" pitchFamily="34" charset="-122"/>
                <a:cs typeface="Arial Black" pitchFamily="34" charset="-120"/>
              </a:rPr>
              <a:t>Stringfest Analytics</a:t>
            </a:r>
            <a:endParaRPr lang="en-US" sz="1300" dirty="0"/>
          </a:p>
        </p:txBody>
      </p:sp>
      <p:sp>
        <p:nvSpPr>
          <p:cNvPr id="5" name="Text 3"/>
          <p:cNvSpPr/>
          <p:nvPr/>
        </p:nvSpPr>
        <p:spPr>
          <a:xfrm>
            <a:off x="640080" y="1097280"/>
            <a:ext cx="5943600" cy="1828800"/>
          </a:xfrm>
          <a:prstGeom prst="rect">
            <a:avLst/>
          </a:prstGeom>
          <a:noFill/>
          <a:ln/>
        </p:spPr>
        <p:txBody>
          <a:bodyPr wrap="square" lIns="0" tIns="0" rIns="0" bIns="0" rtlCol="0" anchor="ctr"/>
          <a:lstStyle/>
          <a:p>
            <a:pPr marL="0" indent="0">
              <a:lnSpc>
                <a:spcPct val="95000"/>
              </a:lnSpc>
              <a:buNone/>
            </a:pPr>
            <a:r>
              <a:rPr lang="en-US" sz="4200" b="1" dirty="0">
                <a:solidFill>
                  <a:srgbClr val="1F2120"/>
                </a:solidFill>
                <a:latin typeface="Arial Black" pitchFamily="34" charset="0"/>
                <a:ea typeface="Arial Black" pitchFamily="34" charset="-122"/>
                <a:cs typeface="Arial Black" pitchFamily="34" charset="-120"/>
              </a:rPr>
              <a:t>The Modern</a:t>
            </a:r>
            <a:endParaRPr lang="en-US" sz="4200" dirty="0"/>
          </a:p>
          <a:p>
            <a:pPr marL="0" indent="0">
              <a:lnSpc>
                <a:spcPct val="95000"/>
              </a:lnSpc>
              <a:buNone/>
            </a:pPr>
            <a:r>
              <a:rPr lang="en-US" sz="4200" b="1" dirty="0">
                <a:solidFill>
                  <a:srgbClr val="1F2120"/>
                </a:solidFill>
                <a:latin typeface="Arial Black" pitchFamily="34" charset="0"/>
                <a:ea typeface="Arial Black" pitchFamily="34" charset="-122"/>
                <a:cs typeface="Arial Black" pitchFamily="34" charset="-120"/>
              </a:rPr>
              <a:t>AI Excel Stack</a:t>
            </a:r>
            <a:endParaRPr lang="en-US" sz="4200" dirty="0"/>
          </a:p>
        </p:txBody>
      </p:sp>
      <p:sp>
        <p:nvSpPr>
          <p:cNvPr id="6" name="Text 4"/>
          <p:cNvSpPr/>
          <p:nvPr/>
        </p:nvSpPr>
        <p:spPr>
          <a:xfrm>
            <a:off x="640080" y="2926080"/>
            <a:ext cx="5486400" cy="457200"/>
          </a:xfrm>
          <a:prstGeom prst="rect">
            <a:avLst/>
          </a:prstGeom>
          <a:noFill/>
          <a:ln/>
        </p:spPr>
        <p:txBody>
          <a:bodyPr wrap="square" lIns="0" tIns="0" rIns="0" bIns="0" rtlCol="0" anchor="ctr"/>
          <a:lstStyle/>
          <a:p>
            <a:pPr marL="0" indent="0">
              <a:buNone/>
            </a:pPr>
            <a:r>
              <a:rPr lang="en-US" sz="1700" dirty="0">
                <a:solidFill>
                  <a:srgbClr val="707070"/>
                </a:solidFill>
                <a:latin typeface="Arial" pitchFamily="34" charset="0"/>
                <a:ea typeface="Arial" pitchFamily="34" charset="-122"/>
                <a:cs typeface="Arial" pitchFamily="34" charset="-120"/>
              </a:rPr>
              <a:t>for Finance and Accounting Professionals</a:t>
            </a:r>
            <a:endParaRPr lang="en-US" sz="1700" dirty="0"/>
          </a:p>
        </p:txBody>
      </p:sp>
      <p:sp>
        <p:nvSpPr>
          <p:cNvPr id="7" name="Text 5"/>
          <p:cNvSpPr/>
          <p:nvPr/>
        </p:nvSpPr>
        <p:spPr>
          <a:xfrm>
            <a:off x="640080" y="3840480"/>
            <a:ext cx="4572000" cy="731520"/>
          </a:xfrm>
          <a:prstGeom prst="rect">
            <a:avLst/>
          </a:prstGeom>
          <a:noFill/>
          <a:ln/>
        </p:spPr>
        <p:txBody>
          <a:bodyPr wrap="square" lIns="0" tIns="0" rIns="0" bIns="0" rtlCol="0" anchor="ctr"/>
          <a:lstStyle/>
          <a:p>
            <a:pPr marL="0" indent="0">
              <a:buNone/>
            </a:pPr>
            <a:r>
              <a:rPr lang="en-US" sz="1300" dirty="0">
                <a:solidFill>
                  <a:srgbClr val="707070"/>
                </a:solidFill>
                <a:latin typeface="Arial" pitchFamily="34" charset="0"/>
                <a:ea typeface="Arial" pitchFamily="34" charset="-122"/>
                <a:cs typeface="Arial" pitchFamily="34" charset="-120"/>
              </a:rPr>
              <a:t>George Mount</a:t>
            </a:r>
            <a:endParaRPr lang="en-US" sz="1300" dirty="0"/>
          </a:p>
          <a:p>
            <a:pPr marL="0" indent="0">
              <a:buNone/>
            </a:pPr>
            <a:r>
              <a:rPr lang="en-US" sz="1300" dirty="0">
                <a:solidFill>
                  <a:srgbClr val="707070"/>
                </a:solidFill>
                <a:latin typeface="Arial" pitchFamily="34" charset="0"/>
                <a:ea typeface="Arial" pitchFamily="34" charset="-122"/>
                <a:cs typeface="Arial" pitchFamily="34" charset="-120"/>
              </a:rPr>
              <a:t>Kent State Meonske Conference 2026</a:t>
            </a:r>
            <a:endParaRPr lang="en-US" sz="1300" dirty="0"/>
          </a:p>
        </p:txBody>
      </p:sp>
      <p:sp>
        <p:nvSpPr>
          <p:cNvPr id="8" name="Text 6"/>
          <p:cNvSpPr/>
          <p:nvPr/>
        </p:nvSpPr>
        <p:spPr>
          <a:xfrm>
            <a:off x="7040880" y="1371600"/>
            <a:ext cx="1920240" cy="1280160"/>
          </a:xfrm>
          <a:prstGeom prst="rect">
            <a:avLst/>
          </a:prstGeom>
          <a:noFill/>
          <a:ln/>
        </p:spPr>
        <p:txBody>
          <a:bodyPr wrap="square" lIns="0" tIns="0" rIns="0" bIns="0" rtlCol="0" anchor="ctr"/>
          <a:lstStyle/>
          <a:p>
            <a:pPr marL="0" indent="0" algn="ctr">
              <a:lnSpc>
                <a:spcPct val="80000"/>
              </a:lnSpc>
              <a:buNone/>
            </a:pPr>
            <a:r>
              <a:rPr lang="en-US" sz="4800" b="1" dirty="0">
                <a:solidFill>
                  <a:srgbClr val="FFFFFF"/>
                </a:solidFill>
                <a:latin typeface="Arial Black" pitchFamily="34" charset="0"/>
                <a:ea typeface="Arial Black" pitchFamily="34" charset="-122"/>
                <a:cs typeface="Arial Black" pitchFamily="34" charset="-120"/>
              </a:rPr>
              <a:t>60</a:t>
            </a:r>
            <a:endParaRPr lang="en-US" sz="4800" dirty="0"/>
          </a:p>
          <a:p>
            <a:pPr marL="0" indent="0" algn="ctr">
              <a:lnSpc>
                <a:spcPct val="80000"/>
              </a:lnSpc>
              <a:buNone/>
            </a:pPr>
            <a:r>
              <a:rPr lang="en-US" sz="4800" b="1" dirty="0">
                <a:solidFill>
                  <a:srgbClr val="FFFFFF"/>
                </a:solidFill>
                <a:latin typeface="Arial Black" pitchFamily="34" charset="0"/>
                <a:ea typeface="Arial Black" pitchFamily="34" charset="-122"/>
                <a:cs typeface="Arial Black" pitchFamily="34" charset="-120"/>
              </a:rPr>
              <a:t>min</a:t>
            </a:r>
            <a:endParaRPr lang="en-US" sz="4800" dirty="0"/>
          </a:p>
        </p:txBody>
      </p:sp>
      <p:sp>
        <p:nvSpPr>
          <p:cNvPr id="9" name="Text 7"/>
          <p:cNvSpPr/>
          <p:nvPr/>
        </p:nvSpPr>
        <p:spPr>
          <a:xfrm>
            <a:off x="7040880" y="2926080"/>
            <a:ext cx="1920240" cy="731520"/>
          </a:xfrm>
          <a:prstGeom prst="rect">
            <a:avLst/>
          </a:prstGeom>
          <a:noFill/>
          <a:ln/>
        </p:spPr>
        <p:txBody>
          <a:bodyPr wrap="square" lIns="0" tIns="0" rIns="0" bIns="0"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Demonstration</a:t>
            </a:r>
            <a:endParaRPr lang="en-US" sz="1400" dirty="0"/>
          </a:p>
          <a:p>
            <a:pPr marL="0" indent="0" algn="ctr">
              <a:buNone/>
            </a:pPr>
            <a:r>
              <a:rPr lang="en-US" sz="1400" dirty="0">
                <a:solidFill>
                  <a:srgbClr val="FFFFFF"/>
                </a:solidFill>
                <a:latin typeface="Arial" pitchFamily="34" charset="0"/>
                <a:ea typeface="Arial" pitchFamily="34" charset="-122"/>
                <a:cs typeface="Arial" pitchFamily="34" charset="-120"/>
              </a:rPr>
              <a:t>Session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C00000"/>
        </a:solidFill>
        <a:effectLst/>
      </p:bgPr>
    </p:bg>
    <p:spTree>
      <p:nvGrpSpPr>
        <p:cNvPr id="1" name=""/>
        <p:cNvGrpSpPr/>
        <p:nvPr/>
      </p:nvGrpSpPr>
      <p:grpSpPr>
        <a:xfrm>
          <a:off x="0" y="0"/>
          <a:ext cx="0" cy="0"/>
          <a:chOff x="0" y="0"/>
          <a:chExt cx="0" cy="0"/>
        </a:xfrm>
      </p:grpSpPr>
      <p:sp>
        <p:nvSpPr>
          <p:cNvPr id="2" name="Text 0"/>
          <p:cNvSpPr/>
          <p:nvPr/>
        </p:nvSpPr>
        <p:spPr>
          <a:xfrm>
            <a:off x="640080" y="365760"/>
            <a:ext cx="4572000" cy="594360"/>
          </a:xfrm>
          <a:prstGeom prst="rect">
            <a:avLst/>
          </a:prstGeom>
          <a:noFill/>
          <a:ln/>
        </p:spPr>
        <p:txBody>
          <a:bodyPr wrap="square" lIns="0" tIns="0" rIns="0" bIns="0" rtlCol="0" anchor="ctr"/>
          <a:lstStyle/>
          <a:p>
            <a:pPr marL="0" indent="0">
              <a:buNone/>
            </a:pPr>
            <a:r>
              <a:rPr lang="en-US" sz="3000" b="1" dirty="0">
                <a:solidFill>
                  <a:srgbClr val="FFFFFF"/>
                </a:solidFill>
                <a:latin typeface="Arial Black" pitchFamily="34" charset="0"/>
                <a:ea typeface="Arial Black" pitchFamily="34" charset="-122"/>
                <a:cs typeface="Arial Black" pitchFamily="34" charset="-120"/>
              </a:rPr>
              <a:t>About me</a:t>
            </a:r>
            <a:endParaRPr lang="en-US" sz="3000" dirty="0"/>
          </a:p>
        </p:txBody>
      </p:sp>
      <p:sp>
        <p:nvSpPr>
          <p:cNvPr id="3" name="Text 1"/>
          <p:cNvSpPr/>
          <p:nvPr/>
        </p:nvSpPr>
        <p:spPr>
          <a:xfrm>
            <a:off x="640080" y="1051560"/>
            <a:ext cx="5943600" cy="457200"/>
          </a:xfrm>
          <a:prstGeom prst="rect">
            <a:avLst/>
          </a:prstGeom>
          <a:noFill/>
          <a:ln/>
        </p:spPr>
        <p:txBody>
          <a:bodyPr wrap="square" lIns="0" tIns="0" rIns="0" bIns="0" rtlCol="0" anchor="ctr"/>
          <a:lstStyle/>
          <a:p>
            <a:pPr marL="0" indent="0">
              <a:buNone/>
            </a:pPr>
            <a:r>
              <a:rPr lang="en-US" sz="1500" dirty="0">
                <a:solidFill>
                  <a:srgbClr val="FFFFFF"/>
                </a:solidFill>
                <a:latin typeface="Arial" pitchFamily="34" charset="0"/>
                <a:ea typeface="Arial" pitchFamily="34" charset="-122"/>
                <a:cs typeface="Arial" pitchFamily="34" charset="-120"/>
              </a:rPr>
              <a:t>I help finance and accounting teams move from fragile</a:t>
            </a:r>
            <a:endParaRPr lang="en-US" sz="1500" dirty="0"/>
          </a:p>
          <a:p>
            <a:pPr marL="0" indent="0">
              <a:buNone/>
            </a:pPr>
            <a:r>
              <a:rPr lang="en-US" sz="1500" dirty="0">
                <a:solidFill>
                  <a:srgbClr val="FFFFFF"/>
                </a:solidFill>
                <a:latin typeface="Arial" pitchFamily="34" charset="0"/>
                <a:ea typeface="Arial" pitchFamily="34" charset="-122"/>
                <a:cs typeface="Arial" pitchFamily="34" charset="-120"/>
              </a:rPr>
              <a:t>spreadsheets to confident, scalable analysis.</a:t>
            </a:r>
            <a:endParaRPr lang="en-US" sz="1500" dirty="0"/>
          </a:p>
        </p:txBody>
      </p:sp>
      <p:sp>
        <p:nvSpPr>
          <p:cNvPr id="4" name="Text 2"/>
          <p:cNvSpPr/>
          <p:nvPr/>
        </p:nvSpPr>
        <p:spPr>
          <a:xfrm>
            <a:off x="640080" y="1554480"/>
            <a:ext cx="4572000" cy="274320"/>
          </a:xfrm>
          <a:prstGeom prst="rect">
            <a:avLst/>
          </a:prstGeom>
          <a:noFill/>
          <a:ln/>
        </p:spPr>
        <p:txBody>
          <a:bodyPr wrap="square" lIns="0" tIns="0" rIns="0" bIns="0" rtlCol="0" anchor="ctr"/>
          <a:lstStyle/>
          <a:p>
            <a:pPr marL="0" indent="0">
              <a:buNone/>
            </a:pPr>
            <a:r>
              <a:rPr lang="en-US" sz="1200" dirty="0">
                <a:solidFill>
                  <a:srgbClr val="F5C6C7"/>
                </a:solidFill>
                <a:latin typeface="Arial Black" pitchFamily="34" charset="0"/>
                <a:ea typeface="Arial Black" pitchFamily="34" charset="-122"/>
                <a:cs typeface="Arial Black" pitchFamily="34" charset="-120"/>
              </a:rPr>
              <a:t>Training  ·  Consulting  ·  Workshops</a:t>
            </a:r>
            <a:endParaRPr lang="en-US" sz="1200" dirty="0"/>
          </a:p>
        </p:txBody>
      </p:sp>
      <p:sp>
        <p:nvSpPr>
          <p:cNvPr id="5" name="Shape 3"/>
          <p:cNvSpPr/>
          <p:nvPr/>
        </p:nvSpPr>
        <p:spPr>
          <a:xfrm>
            <a:off x="640080" y="2103120"/>
            <a:ext cx="2560320" cy="2194560"/>
          </a:xfrm>
          <a:prstGeom prst="rect">
            <a:avLst/>
          </a:prstGeom>
          <a:solidFill>
            <a:srgbClr val="FFFFFF"/>
          </a:solidFill>
          <a:ln/>
        </p:spPr>
        <p:txBody>
          <a:bodyPr/>
          <a:lstStyle/>
          <a:p>
            <a:endParaRPr lang="en-US"/>
          </a:p>
        </p:txBody>
      </p:sp>
      <p:sp>
        <p:nvSpPr>
          <p:cNvPr id="6" name="Shape 4"/>
          <p:cNvSpPr/>
          <p:nvPr/>
        </p:nvSpPr>
        <p:spPr>
          <a:xfrm>
            <a:off x="640080" y="2103120"/>
            <a:ext cx="2560320" cy="54864"/>
          </a:xfrm>
          <a:prstGeom prst="rect">
            <a:avLst/>
          </a:prstGeom>
          <a:solidFill>
            <a:srgbClr val="CF3338"/>
          </a:solidFill>
          <a:ln/>
        </p:spPr>
        <p:txBody>
          <a:bodyPr/>
          <a:lstStyle/>
          <a:p>
            <a:endParaRPr lang="en-US"/>
          </a:p>
        </p:txBody>
      </p:sp>
      <p:sp>
        <p:nvSpPr>
          <p:cNvPr id="7" name="Text 5"/>
          <p:cNvSpPr/>
          <p:nvPr/>
        </p:nvSpPr>
        <p:spPr>
          <a:xfrm>
            <a:off x="822960" y="2286000"/>
            <a:ext cx="2194560" cy="365760"/>
          </a:xfrm>
          <a:prstGeom prst="rect">
            <a:avLst/>
          </a:prstGeom>
          <a:noFill/>
          <a:ln/>
        </p:spPr>
        <p:txBody>
          <a:bodyPr wrap="square" lIns="0" tIns="0" rIns="0" bIns="0" rtlCol="0" anchor="ctr"/>
          <a:lstStyle/>
          <a:p>
            <a:pPr marL="0" indent="0">
              <a:buNone/>
            </a:pPr>
            <a:r>
              <a:rPr lang="en-US" sz="1600" b="1" dirty="0">
                <a:solidFill>
                  <a:srgbClr val="1F2120"/>
                </a:solidFill>
                <a:latin typeface="Arial Black" pitchFamily="34" charset="0"/>
                <a:ea typeface="Arial Black" pitchFamily="34" charset="-122"/>
                <a:cs typeface="Arial Black" pitchFamily="34" charset="-120"/>
              </a:rPr>
              <a:t>Author</a:t>
            </a:r>
            <a:endParaRPr lang="en-US" sz="1600" dirty="0"/>
          </a:p>
        </p:txBody>
      </p:sp>
      <p:sp>
        <p:nvSpPr>
          <p:cNvPr id="8" name="Text 6"/>
          <p:cNvSpPr/>
          <p:nvPr/>
        </p:nvSpPr>
        <p:spPr>
          <a:xfrm>
            <a:off x="822960" y="2743200"/>
            <a:ext cx="2194560" cy="1280160"/>
          </a:xfrm>
          <a:prstGeom prst="rect">
            <a:avLst/>
          </a:prstGeom>
          <a:noFill/>
          <a:ln/>
        </p:spPr>
        <p:txBody>
          <a:bodyPr wrap="square" lIns="0" tIns="0" rIns="0" bIns="0" rtlCol="0" anchor="ctr"/>
          <a:lstStyle/>
          <a:p>
            <a:pPr marL="0" indent="0">
              <a:buNone/>
            </a:pPr>
            <a:r>
              <a:rPr lang="en-US" sz="1200" dirty="0">
                <a:solidFill>
                  <a:srgbClr val="707070"/>
                </a:solidFill>
                <a:latin typeface="Arial" pitchFamily="34" charset="0"/>
                <a:ea typeface="Arial" pitchFamily="34" charset="-122"/>
                <a:cs typeface="Arial" pitchFamily="34" charset="-120"/>
              </a:rPr>
              <a:t>Advancing Into Analytics</a:t>
            </a:r>
            <a:endParaRPr lang="en-US" sz="1200" dirty="0"/>
          </a:p>
          <a:p>
            <a:pPr marL="0" indent="0">
              <a:buNone/>
            </a:pPr>
            <a:r>
              <a:rPr lang="en-US" sz="1200" dirty="0">
                <a:solidFill>
                  <a:srgbClr val="707070"/>
                </a:solidFill>
                <a:latin typeface="Arial" pitchFamily="34" charset="0"/>
                <a:ea typeface="Arial" pitchFamily="34" charset="-122"/>
                <a:cs typeface="Arial" pitchFamily="34" charset="-120"/>
              </a:rPr>
              <a:t>Modern Data Analytics in Excel</a:t>
            </a:r>
            <a:endParaRPr lang="en-US" sz="1200" dirty="0"/>
          </a:p>
          <a:p>
            <a:pPr marL="0" indent="0">
              <a:buNone/>
            </a:pPr>
            <a:r>
              <a:rPr lang="en-US" sz="1200" dirty="0">
                <a:solidFill>
                  <a:srgbClr val="707070"/>
                </a:solidFill>
                <a:latin typeface="Arial" pitchFamily="34" charset="0"/>
                <a:ea typeface="Arial" pitchFamily="34" charset="-122"/>
                <a:cs typeface="Arial" pitchFamily="34" charset="-120"/>
              </a:rPr>
              <a:t>(O’Reilly Media)</a:t>
            </a:r>
            <a:endParaRPr lang="en-US" sz="1200" dirty="0"/>
          </a:p>
        </p:txBody>
      </p:sp>
      <p:sp>
        <p:nvSpPr>
          <p:cNvPr id="9" name="Shape 7"/>
          <p:cNvSpPr/>
          <p:nvPr/>
        </p:nvSpPr>
        <p:spPr>
          <a:xfrm>
            <a:off x="3429000" y="2103120"/>
            <a:ext cx="2560320" cy="2194560"/>
          </a:xfrm>
          <a:prstGeom prst="rect">
            <a:avLst/>
          </a:prstGeom>
          <a:solidFill>
            <a:srgbClr val="FFFFFF"/>
          </a:solidFill>
          <a:ln/>
        </p:spPr>
        <p:txBody>
          <a:bodyPr/>
          <a:lstStyle/>
          <a:p>
            <a:endParaRPr lang="en-US"/>
          </a:p>
        </p:txBody>
      </p:sp>
      <p:sp>
        <p:nvSpPr>
          <p:cNvPr id="10" name="Shape 8"/>
          <p:cNvSpPr/>
          <p:nvPr/>
        </p:nvSpPr>
        <p:spPr>
          <a:xfrm>
            <a:off x="3429000" y="2103120"/>
            <a:ext cx="2560320" cy="54864"/>
          </a:xfrm>
          <a:prstGeom prst="rect">
            <a:avLst/>
          </a:prstGeom>
          <a:solidFill>
            <a:srgbClr val="CF3338"/>
          </a:solidFill>
          <a:ln/>
        </p:spPr>
        <p:txBody>
          <a:bodyPr/>
          <a:lstStyle/>
          <a:p>
            <a:endParaRPr lang="en-US"/>
          </a:p>
        </p:txBody>
      </p:sp>
      <p:sp>
        <p:nvSpPr>
          <p:cNvPr id="11" name="Text 9"/>
          <p:cNvSpPr/>
          <p:nvPr/>
        </p:nvSpPr>
        <p:spPr>
          <a:xfrm>
            <a:off x="3611880" y="2286000"/>
            <a:ext cx="2194560" cy="365760"/>
          </a:xfrm>
          <a:prstGeom prst="rect">
            <a:avLst/>
          </a:prstGeom>
          <a:noFill/>
          <a:ln/>
        </p:spPr>
        <p:txBody>
          <a:bodyPr wrap="square" lIns="0" tIns="0" rIns="0" bIns="0" rtlCol="0" anchor="ctr"/>
          <a:lstStyle/>
          <a:p>
            <a:pPr marL="0" indent="0">
              <a:buNone/>
            </a:pPr>
            <a:r>
              <a:rPr lang="en-US" sz="1600" b="1" dirty="0">
                <a:solidFill>
                  <a:srgbClr val="1F2120"/>
                </a:solidFill>
                <a:latin typeface="Arial Black" pitchFamily="34" charset="0"/>
                <a:ea typeface="Arial Black" pitchFamily="34" charset="-122"/>
                <a:cs typeface="Arial Black" pitchFamily="34" charset="-120"/>
              </a:rPr>
              <a:t>Microsoft MVP</a:t>
            </a:r>
            <a:endParaRPr lang="en-US" sz="1600" dirty="0"/>
          </a:p>
        </p:txBody>
      </p:sp>
      <p:sp>
        <p:nvSpPr>
          <p:cNvPr id="12" name="Text 10"/>
          <p:cNvSpPr/>
          <p:nvPr/>
        </p:nvSpPr>
        <p:spPr>
          <a:xfrm>
            <a:off x="3611880" y="2743200"/>
            <a:ext cx="2194560" cy="1280160"/>
          </a:xfrm>
          <a:prstGeom prst="rect">
            <a:avLst/>
          </a:prstGeom>
          <a:noFill/>
          <a:ln/>
        </p:spPr>
        <p:txBody>
          <a:bodyPr wrap="square" lIns="0" tIns="0" rIns="0" bIns="0" rtlCol="0" anchor="ctr"/>
          <a:lstStyle/>
          <a:p>
            <a:pPr marL="0" indent="0">
              <a:buNone/>
            </a:pPr>
            <a:r>
              <a:rPr lang="en-US" sz="1200" dirty="0">
                <a:solidFill>
                  <a:srgbClr val="707070"/>
                </a:solidFill>
                <a:latin typeface="Arial" pitchFamily="34" charset="0"/>
                <a:ea typeface="Arial" pitchFamily="34" charset="-122"/>
                <a:cs typeface="Arial" pitchFamily="34" charset="-120"/>
              </a:rPr>
              <a:t>Most Valuable Professional</a:t>
            </a:r>
            <a:endParaRPr lang="en-US" sz="1200" dirty="0"/>
          </a:p>
          <a:p>
            <a:pPr marL="0" indent="0">
              <a:buNone/>
            </a:pPr>
            <a:r>
              <a:rPr lang="en-US" sz="1200" dirty="0">
                <a:solidFill>
                  <a:srgbClr val="707070"/>
                </a:solidFill>
                <a:latin typeface="Arial" pitchFamily="34" charset="0"/>
                <a:ea typeface="Arial" pitchFamily="34" charset="-122"/>
                <a:cs typeface="Arial" pitchFamily="34" charset="-120"/>
              </a:rPr>
              <a:t>Excel &amp; Data Platform</a:t>
            </a:r>
            <a:endParaRPr lang="en-US" sz="1200" dirty="0"/>
          </a:p>
        </p:txBody>
      </p:sp>
      <p:sp>
        <p:nvSpPr>
          <p:cNvPr id="13" name="Shape 11"/>
          <p:cNvSpPr/>
          <p:nvPr/>
        </p:nvSpPr>
        <p:spPr>
          <a:xfrm>
            <a:off x="6217920" y="2103120"/>
            <a:ext cx="2560320" cy="2194560"/>
          </a:xfrm>
          <a:prstGeom prst="rect">
            <a:avLst/>
          </a:prstGeom>
          <a:solidFill>
            <a:srgbClr val="FFFFFF"/>
          </a:solidFill>
          <a:ln/>
        </p:spPr>
        <p:txBody>
          <a:bodyPr/>
          <a:lstStyle/>
          <a:p>
            <a:endParaRPr lang="en-US"/>
          </a:p>
        </p:txBody>
      </p:sp>
      <p:sp>
        <p:nvSpPr>
          <p:cNvPr id="14" name="Shape 12"/>
          <p:cNvSpPr/>
          <p:nvPr/>
        </p:nvSpPr>
        <p:spPr>
          <a:xfrm>
            <a:off x="6217920" y="2103120"/>
            <a:ext cx="2560320" cy="54864"/>
          </a:xfrm>
          <a:prstGeom prst="rect">
            <a:avLst/>
          </a:prstGeom>
          <a:solidFill>
            <a:srgbClr val="CF3338"/>
          </a:solidFill>
          <a:ln/>
        </p:spPr>
        <p:txBody>
          <a:bodyPr/>
          <a:lstStyle/>
          <a:p>
            <a:endParaRPr lang="en-US"/>
          </a:p>
        </p:txBody>
      </p:sp>
      <p:sp>
        <p:nvSpPr>
          <p:cNvPr id="15" name="Text 13"/>
          <p:cNvSpPr/>
          <p:nvPr/>
        </p:nvSpPr>
        <p:spPr>
          <a:xfrm>
            <a:off x="6400800" y="2286000"/>
            <a:ext cx="2194560" cy="365760"/>
          </a:xfrm>
          <a:prstGeom prst="rect">
            <a:avLst/>
          </a:prstGeom>
          <a:noFill/>
          <a:ln/>
        </p:spPr>
        <p:txBody>
          <a:bodyPr wrap="square" lIns="0" tIns="0" rIns="0" bIns="0" rtlCol="0" anchor="ctr"/>
          <a:lstStyle/>
          <a:p>
            <a:pPr marL="0" indent="0">
              <a:buNone/>
            </a:pPr>
            <a:r>
              <a:rPr lang="en-US" sz="1600" b="1" dirty="0">
                <a:solidFill>
                  <a:srgbClr val="1F2120"/>
                </a:solidFill>
                <a:latin typeface="Arial Black" pitchFamily="34" charset="0"/>
                <a:ea typeface="Arial Black" pitchFamily="34" charset="-122"/>
                <a:cs typeface="Arial Black" pitchFamily="34" charset="-120"/>
              </a:rPr>
              <a:t>Instructor</a:t>
            </a:r>
            <a:endParaRPr lang="en-US" sz="1600" dirty="0"/>
          </a:p>
        </p:txBody>
      </p:sp>
      <p:sp>
        <p:nvSpPr>
          <p:cNvPr id="16" name="Text 14"/>
          <p:cNvSpPr/>
          <p:nvPr/>
        </p:nvSpPr>
        <p:spPr>
          <a:xfrm>
            <a:off x="6400800" y="2743200"/>
            <a:ext cx="2194560" cy="1280160"/>
          </a:xfrm>
          <a:prstGeom prst="rect">
            <a:avLst/>
          </a:prstGeom>
          <a:noFill/>
          <a:ln/>
        </p:spPr>
        <p:txBody>
          <a:bodyPr wrap="square" lIns="0" tIns="0" rIns="0" bIns="0" rtlCol="0" anchor="ctr"/>
          <a:lstStyle/>
          <a:p>
            <a:pPr marL="0" indent="0">
              <a:buNone/>
            </a:pPr>
            <a:r>
              <a:rPr lang="en-US" sz="1200" dirty="0">
                <a:solidFill>
                  <a:srgbClr val="707070"/>
                </a:solidFill>
                <a:latin typeface="Arial" pitchFamily="34" charset="0"/>
                <a:ea typeface="Arial" pitchFamily="34" charset="-122"/>
                <a:cs typeface="Arial" pitchFamily="34" charset="-120"/>
              </a:rPr>
              <a:t>LinkedIn Learning</a:t>
            </a:r>
            <a:endParaRPr lang="en-US" sz="1200" dirty="0"/>
          </a:p>
          <a:p>
            <a:pPr marL="0" indent="0">
              <a:buNone/>
            </a:pPr>
            <a:r>
              <a:rPr lang="en-US" sz="1200" dirty="0">
                <a:solidFill>
                  <a:srgbClr val="707070"/>
                </a:solidFill>
                <a:latin typeface="Arial" pitchFamily="34" charset="0"/>
                <a:ea typeface="Arial" pitchFamily="34" charset="-122"/>
                <a:cs typeface="Arial" pitchFamily="34" charset="-120"/>
              </a:rPr>
              <a:t>Global Excel Summit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ECE1"/>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F3338"/>
          </a:solidFill>
          <a:ln/>
        </p:spPr>
        <p:txBody>
          <a:bodyPr/>
          <a:lstStyle/>
          <a:p>
            <a:endParaRPr lang="en-US"/>
          </a:p>
        </p:txBody>
      </p:sp>
      <p:sp>
        <p:nvSpPr>
          <p:cNvPr id="3" name="Text 1"/>
          <p:cNvSpPr/>
          <p:nvPr/>
        </p:nvSpPr>
        <p:spPr>
          <a:xfrm>
            <a:off x="640080" y="320040"/>
            <a:ext cx="7315200" cy="594360"/>
          </a:xfrm>
          <a:prstGeom prst="rect">
            <a:avLst/>
          </a:prstGeom>
          <a:noFill/>
          <a:ln/>
        </p:spPr>
        <p:txBody>
          <a:bodyPr wrap="square" lIns="0" tIns="0" rIns="0" bIns="0" rtlCol="0" anchor="ctr"/>
          <a:lstStyle/>
          <a:p>
            <a:pPr marL="0" indent="0">
              <a:buNone/>
            </a:pPr>
            <a:r>
              <a:rPr lang="en-US" sz="2800" b="1" dirty="0">
                <a:solidFill>
                  <a:srgbClr val="1F2120"/>
                </a:solidFill>
                <a:latin typeface="Arial Black" pitchFamily="34" charset="0"/>
                <a:ea typeface="Arial Black" pitchFamily="34" charset="-122"/>
                <a:cs typeface="Arial Black" pitchFamily="34" charset="-120"/>
              </a:rPr>
              <a:t>What we’ll cover today</a:t>
            </a:r>
            <a:endParaRPr lang="en-US" sz="2800" dirty="0"/>
          </a:p>
        </p:txBody>
      </p:sp>
      <p:sp>
        <p:nvSpPr>
          <p:cNvPr id="4" name="Shape 2"/>
          <p:cNvSpPr/>
          <p:nvPr/>
        </p:nvSpPr>
        <p:spPr>
          <a:xfrm>
            <a:off x="640080" y="1188720"/>
            <a:ext cx="438912" cy="438912"/>
          </a:xfrm>
          <a:prstGeom prst="ellipse">
            <a:avLst/>
          </a:prstGeom>
          <a:solidFill>
            <a:srgbClr val="CF3338"/>
          </a:solidFill>
          <a:ln/>
        </p:spPr>
        <p:txBody>
          <a:bodyPr/>
          <a:lstStyle/>
          <a:p>
            <a:endParaRPr lang="en-US"/>
          </a:p>
        </p:txBody>
      </p:sp>
      <p:sp>
        <p:nvSpPr>
          <p:cNvPr id="5" name="Text 3"/>
          <p:cNvSpPr/>
          <p:nvPr/>
        </p:nvSpPr>
        <p:spPr>
          <a:xfrm>
            <a:off x="640080" y="118872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1</a:t>
            </a:r>
            <a:endParaRPr lang="en-US" sz="1600" dirty="0"/>
          </a:p>
        </p:txBody>
      </p:sp>
      <p:sp>
        <p:nvSpPr>
          <p:cNvPr id="6" name="Text 4"/>
          <p:cNvSpPr/>
          <p:nvPr/>
        </p:nvSpPr>
        <p:spPr>
          <a:xfrm>
            <a:off x="1280160" y="1188720"/>
            <a:ext cx="7315200" cy="438912"/>
          </a:xfrm>
          <a:prstGeom prst="rect">
            <a:avLst/>
          </a:prstGeom>
          <a:noFill/>
          <a:ln/>
        </p:spPr>
        <p:txBody>
          <a:bodyPr wrap="square" lIns="0" tIns="0" rIns="0" bIns="0" rtlCol="0" anchor="ctr"/>
          <a:lstStyle/>
          <a:p>
            <a:pPr marL="0" indent="0">
              <a:buNone/>
            </a:pPr>
            <a:r>
              <a:rPr lang="en-US" sz="1500" dirty="0">
                <a:solidFill>
                  <a:srgbClr val="707070"/>
                </a:solidFill>
                <a:latin typeface="Arial" pitchFamily="34" charset="0"/>
                <a:ea typeface="Arial" pitchFamily="34" charset="-122"/>
                <a:cs typeface="Arial" pitchFamily="34" charset="-120"/>
              </a:rPr>
              <a:t>Know when AI belongs in your Excel workflow — and when it doesn’t</a:t>
            </a:r>
            <a:endParaRPr lang="en-US" sz="1500" dirty="0"/>
          </a:p>
        </p:txBody>
      </p:sp>
      <p:sp>
        <p:nvSpPr>
          <p:cNvPr id="7" name="Shape 5"/>
          <p:cNvSpPr/>
          <p:nvPr/>
        </p:nvSpPr>
        <p:spPr>
          <a:xfrm>
            <a:off x="640080" y="1874520"/>
            <a:ext cx="438912" cy="438912"/>
          </a:xfrm>
          <a:prstGeom prst="ellipse">
            <a:avLst/>
          </a:prstGeom>
          <a:solidFill>
            <a:srgbClr val="CF3338"/>
          </a:solidFill>
          <a:ln/>
        </p:spPr>
        <p:txBody>
          <a:bodyPr/>
          <a:lstStyle/>
          <a:p>
            <a:endParaRPr lang="en-US"/>
          </a:p>
        </p:txBody>
      </p:sp>
      <p:sp>
        <p:nvSpPr>
          <p:cNvPr id="8" name="Text 6"/>
          <p:cNvSpPr/>
          <p:nvPr/>
        </p:nvSpPr>
        <p:spPr>
          <a:xfrm>
            <a:off x="640080" y="187452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2</a:t>
            </a:r>
            <a:endParaRPr lang="en-US" sz="1600" dirty="0"/>
          </a:p>
        </p:txBody>
      </p:sp>
      <p:sp>
        <p:nvSpPr>
          <p:cNvPr id="9" name="Text 7"/>
          <p:cNvSpPr/>
          <p:nvPr/>
        </p:nvSpPr>
        <p:spPr>
          <a:xfrm>
            <a:off x="1280160" y="1874520"/>
            <a:ext cx="7315200" cy="438912"/>
          </a:xfrm>
          <a:prstGeom prst="rect">
            <a:avLst/>
          </a:prstGeom>
          <a:noFill/>
          <a:ln/>
        </p:spPr>
        <p:txBody>
          <a:bodyPr wrap="square" lIns="0" tIns="0" rIns="0" bIns="0" rtlCol="0" anchor="ctr"/>
          <a:lstStyle/>
          <a:p>
            <a:pPr marL="0" indent="0">
              <a:buNone/>
            </a:pPr>
            <a:r>
              <a:rPr lang="en-US" sz="1500" dirty="0">
                <a:solidFill>
                  <a:srgbClr val="707070"/>
                </a:solidFill>
                <a:latin typeface="Arial" pitchFamily="34" charset="0"/>
                <a:ea typeface="Arial" pitchFamily="34" charset="-122"/>
                <a:cs typeface="Arial" pitchFamily="34" charset="-120"/>
              </a:rPr>
              <a:t>See Power Query as a reliable, reproducible data prep tool (preview for lab)</a:t>
            </a:r>
            <a:endParaRPr lang="en-US" sz="1500" dirty="0"/>
          </a:p>
        </p:txBody>
      </p:sp>
      <p:sp>
        <p:nvSpPr>
          <p:cNvPr id="10" name="Shape 8"/>
          <p:cNvSpPr/>
          <p:nvPr/>
        </p:nvSpPr>
        <p:spPr>
          <a:xfrm>
            <a:off x="640080" y="2560320"/>
            <a:ext cx="438912" cy="438912"/>
          </a:xfrm>
          <a:prstGeom prst="ellipse">
            <a:avLst/>
          </a:prstGeom>
          <a:solidFill>
            <a:srgbClr val="CF3338"/>
          </a:solidFill>
          <a:ln/>
        </p:spPr>
        <p:txBody>
          <a:bodyPr/>
          <a:lstStyle/>
          <a:p>
            <a:endParaRPr lang="en-US"/>
          </a:p>
        </p:txBody>
      </p:sp>
      <p:sp>
        <p:nvSpPr>
          <p:cNvPr id="11" name="Text 9"/>
          <p:cNvSpPr/>
          <p:nvPr/>
        </p:nvSpPr>
        <p:spPr>
          <a:xfrm>
            <a:off x="640080" y="256032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3</a:t>
            </a:r>
            <a:endParaRPr lang="en-US" sz="1600" dirty="0"/>
          </a:p>
        </p:txBody>
      </p:sp>
      <p:sp>
        <p:nvSpPr>
          <p:cNvPr id="12" name="Text 10"/>
          <p:cNvSpPr/>
          <p:nvPr/>
        </p:nvSpPr>
        <p:spPr>
          <a:xfrm>
            <a:off x="1280160" y="2560320"/>
            <a:ext cx="7315200" cy="438912"/>
          </a:xfrm>
          <a:prstGeom prst="rect">
            <a:avLst/>
          </a:prstGeom>
          <a:noFill/>
          <a:ln/>
        </p:spPr>
        <p:txBody>
          <a:bodyPr wrap="square" lIns="0" tIns="0" rIns="0" bIns="0" rtlCol="0" anchor="ctr"/>
          <a:lstStyle/>
          <a:p>
            <a:pPr marL="0" indent="0">
              <a:buNone/>
            </a:pPr>
            <a:r>
              <a:rPr lang="en-US" sz="1500" dirty="0">
                <a:solidFill>
                  <a:srgbClr val="707070"/>
                </a:solidFill>
                <a:latin typeface="Arial" pitchFamily="34" charset="0"/>
                <a:ea typeface="Arial" pitchFamily="34" charset="-122"/>
                <a:cs typeface="Arial" pitchFamily="34" charset="-120"/>
              </a:rPr>
              <a:t>Use Copilot to accelerate analysis while staying in control</a:t>
            </a:r>
            <a:endParaRPr lang="en-US" sz="1500" dirty="0"/>
          </a:p>
        </p:txBody>
      </p:sp>
      <p:sp>
        <p:nvSpPr>
          <p:cNvPr id="13" name="Shape 11"/>
          <p:cNvSpPr/>
          <p:nvPr/>
        </p:nvSpPr>
        <p:spPr>
          <a:xfrm>
            <a:off x="640080" y="3246120"/>
            <a:ext cx="438912" cy="438912"/>
          </a:xfrm>
          <a:prstGeom prst="ellipse">
            <a:avLst/>
          </a:prstGeom>
          <a:solidFill>
            <a:srgbClr val="CF3338"/>
          </a:solidFill>
          <a:ln/>
        </p:spPr>
        <p:txBody>
          <a:bodyPr/>
          <a:lstStyle/>
          <a:p>
            <a:endParaRPr lang="en-US"/>
          </a:p>
        </p:txBody>
      </p:sp>
      <p:sp>
        <p:nvSpPr>
          <p:cNvPr id="14" name="Text 12"/>
          <p:cNvSpPr/>
          <p:nvPr/>
        </p:nvSpPr>
        <p:spPr>
          <a:xfrm>
            <a:off x="640080" y="324612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4</a:t>
            </a:r>
            <a:endParaRPr lang="en-US" sz="1600" dirty="0"/>
          </a:p>
        </p:txBody>
      </p:sp>
      <p:sp>
        <p:nvSpPr>
          <p:cNvPr id="15" name="Text 13"/>
          <p:cNvSpPr/>
          <p:nvPr/>
        </p:nvSpPr>
        <p:spPr>
          <a:xfrm>
            <a:off x="1280160" y="3246120"/>
            <a:ext cx="7315200" cy="438912"/>
          </a:xfrm>
          <a:prstGeom prst="rect">
            <a:avLst/>
          </a:prstGeom>
          <a:noFill/>
          <a:ln/>
        </p:spPr>
        <p:txBody>
          <a:bodyPr wrap="square" lIns="0" tIns="0" rIns="0" bIns="0" rtlCol="0" anchor="ctr"/>
          <a:lstStyle/>
          <a:p>
            <a:pPr marL="0" indent="0">
              <a:buNone/>
            </a:pPr>
            <a:r>
              <a:rPr lang="en-US" sz="1500" dirty="0">
                <a:solidFill>
                  <a:srgbClr val="707070"/>
                </a:solidFill>
                <a:latin typeface="Arial" pitchFamily="34" charset="0"/>
                <a:ea typeface="Arial" pitchFamily="34" charset="-122"/>
                <a:cs typeface="Arial" pitchFamily="34" charset="-120"/>
              </a:rPr>
              <a:t>Automate recurring tasks with Office Scripts and Power Automate</a:t>
            </a:r>
            <a:endParaRPr lang="en-US" sz="1500" dirty="0"/>
          </a:p>
        </p:txBody>
      </p:sp>
      <p:sp>
        <p:nvSpPr>
          <p:cNvPr id="16" name="Shape 14"/>
          <p:cNvSpPr/>
          <p:nvPr/>
        </p:nvSpPr>
        <p:spPr>
          <a:xfrm>
            <a:off x="640080" y="3931920"/>
            <a:ext cx="438912" cy="438912"/>
          </a:xfrm>
          <a:prstGeom prst="ellipse">
            <a:avLst/>
          </a:prstGeom>
          <a:solidFill>
            <a:srgbClr val="CF3338"/>
          </a:solidFill>
          <a:ln/>
        </p:spPr>
        <p:txBody>
          <a:bodyPr/>
          <a:lstStyle/>
          <a:p>
            <a:endParaRPr lang="en-US"/>
          </a:p>
        </p:txBody>
      </p:sp>
      <p:sp>
        <p:nvSpPr>
          <p:cNvPr id="17" name="Text 15"/>
          <p:cNvSpPr/>
          <p:nvPr/>
        </p:nvSpPr>
        <p:spPr>
          <a:xfrm>
            <a:off x="640080" y="393192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5</a:t>
            </a:r>
            <a:endParaRPr lang="en-US" sz="1600" dirty="0"/>
          </a:p>
        </p:txBody>
      </p:sp>
      <p:sp>
        <p:nvSpPr>
          <p:cNvPr id="18" name="Text 16"/>
          <p:cNvSpPr/>
          <p:nvPr/>
        </p:nvSpPr>
        <p:spPr>
          <a:xfrm>
            <a:off x="1280160" y="3931920"/>
            <a:ext cx="7315200" cy="438912"/>
          </a:xfrm>
          <a:prstGeom prst="rect">
            <a:avLst/>
          </a:prstGeom>
          <a:noFill/>
          <a:ln/>
        </p:spPr>
        <p:txBody>
          <a:bodyPr wrap="square" lIns="0" tIns="0" rIns="0" bIns="0" rtlCol="0" anchor="ctr"/>
          <a:lstStyle/>
          <a:p>
            <a:pPr marL="0" indent="0">
              <a:buNone/>
            </a:pPr>
            <a:r>
              <a:rPr lang="en-US" sz="1500" dirty="0">
                <a:solidFill>
                  <a:srgbClr val="707070"/>
                </a:solidFill>
                <a:latin typeface="Arial" pitchFamily="34" charset="0"/>
                <a:ea typeface="Arial" pitchFamily="34" charset="-122"/>
                <a:cs typeface="Arial" pitchFamily="34" charset="-120"/>
              </a:rPr>
              <a:t>Walk away with a practical framework, not just hype</a:t>
            </a:r>
            <a:endParaRPr lang="en-US" sz="1500" dirty="0"/>
          </a:p>
        </p:txBody>
      </p:sp>
      <p:sp>
        <p:nvSpPr>
          <p:cNvPr id="19" name="Text 17"/>
          <p:cNvSpPr/>
          <p:nvPr/>
        </p:nvSpPr>
        <p:spPr>
          <a:xfrm>
            <a:off x="6583680" y="4754880"/>
            <a:ext cx="2286000" cy="274320"/>
          </a:xfrm>
          <a:prstGeom prst="rect">
            <a:avLst/>
          </a:prstGeom>
          <a:noFill/>
          <a:ln/>
        </p:spPr>
        <p:txBody>
          <a:bodyPr wrap="square" lIns="0" tIns="0" rIns="0" bIns="0" rtlCol="0" anchor="ctr"/>
          <a:lstStyle/>
          <a:p>
            <a:pPr marL="0" indent="0" algn="r">
              <a:buNone/>
            </a:pPr>
            <a:r>
              <a:rPr lang="en-US" sz="900" dirty="0">
                <a:solidFill>
                  <a:srgbClr val="707070"/>
                </a:solidFill>
                <a:latin typeface="Arial Black" pitchFamily="34" charset="0"/>
                <a:ea typeface="Arial Black" pitchFamily="34" charset="-122"/>
                <a:cs typeface="Arial Black" pitchFamily="34" charset="-120"/>
              </a:rPr>
              <a:t>Stringfest Analytics</a:t>
            </a:r>
            <a:endParaRPr lang="en-US" sz="900" dirty="0"/>
          </a:p>
        </p:txBody>
      </p:sp>
      <p:sp>
        <p:nvSpPr>
          <p:cNvPr id="21" name="Text 18">
            <a:extLst>
              <a:ext uri="{FF2B5EF4-FFF2-40B4-BE49-F238E27FC236}">
                <a16:creationId xmlns:a16="http://schemas.microsoft.com/office/drawing/2014/main" id="{05650FD2-07BF-64EC-5BEF-4260E513DA2A}"/>
              </a:ext>
            </a:extLst>
          </p:cNvPr>
          <p:cNvSpPr/>
          <p:nvPr/>
        </p:nvSpPr>
        <p:spPr>
          <a:xfrm>
            <a:off x="640080" y="4572000"/>
            <a:ext cx="7315200" cy="274320"/>
          </a:xfrm>
          <a:prstGeom prst="rect">
            <a:avLst/>
          </a:prstGeom>
          <a:noFill/>
          <a:ln/>
        </p:spPr>
        <p:txBody>
          <a:bodyPr wrap="square" lIns="0" tIns="0" rIns="0" bIns="0" rtlCol="0" anchor="ctr"/>
          <a:lstStyle/>
          <a:p>
            <a:r>
              <a:rPr lang="en-US" sz="1600" b="1" dirty="0">
                <a:solidFill>
                  <a:srgbClr val="CF3338"/>
                </a:solidFill>
                <a:latin typeface="Arial Black" pitchFamily="34" charset="0"/>
                <a:ea typeface="Arial Black" pitchFamily="34" charset="-122"/>
                <a:cs typeface="Arial Black" pitchFamily="34" charset="-120"/>
              </a:rPr>
              <a:t>Download files: </a:t>
            </a:r>
            <a:r>
              <a:rPr lang="en-US" sz="1600" dirty="0">
                <a:solidFill>
                  <a:schemeClr val="tx1">
                    <a:lumMod val="95000"/>
                    <a:lumOff val="5000"/>
                  </a:schemeClr>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https://swiy.co/Meonske26</a:t>
            </a:r>
            <a:r>
              <a:rPr lang="en-US" sz="1600" dirty="0">
                <a:solidFill>
                  <a:schemeClr val="tx1">
                    <a:lumMod val="95000"/>
                    <a:lumOff val="5000"/>
                  </a:schemeClr>
                </a:solidFill>
                <a:latin typeface="Arial" pitchFamily="34" charset="0"/>
                <a:ea typeface="Arial" pitchFamily="34" charset="-122"/>
                <a:cs typeface="Arial" pitchFamily="34" charset="-120"/>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ECE1"/>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F3338"/>
          </a:solidFill>
          <a:ln/>
        </p:spPr>
        <p:txBody>
          <a:bodyPr/>
          <a:lstStyle/>
          <a:p>
            <a:endParaRPr lang="en-US"/>
          </a:p>
        </p:txBody>
      </p:sp>
      <p:sp>
        <p:nvSpPr>
          <p:cNvPr id="3" name="Text 1"/>
          <p:cNvSpPr/>
          <p:nvPr/>
        </p:nvSpPr>
        <p:spPr>
          <a:xfrm>
            <a:off x="640080" y="274320"/>
            <a:ext cx="8229600" cy="685800"/>
          </a:xfrm>
          <a:prstGeom prst="rect">
            <a:avLst/>
          </a:prstGeom>
          <a:noFill/>
          <a:ln/>
        </p:spPr>
        <p:txBody>
          <a:bodyPr wrap="square" lIns="0" tIns="0" rIns="0" bIns="0" rtlCol="0" anchor="ctr"/>
          <a:lstStyle/>
          <a:p>
            <a:pPr marL="0" indent="0">
              <a:buNone/>
            </a:pPr>
            <a:r>
              <a:rPr lang="en-US" sz="3000" b="1" dirty="0">
                <a:solidFill>
                  <a:srgbClr val="CF3338"/>
                </a:solidFill>
                <a:latin typeface="Arial Black" pitchFamily="34" charset="0"/>
                <a:ea typeface="Arial Black" pitchFamily="34" charset="-122"/>
                <a:cs typeface="Arial Black" pitchFamily="34" charset="-120"/>
              </a:rPr>
              <a:t>“Should we?”</a:t>
            </a:r>
            <a:r>
              <a:rPr lang="en-US" sz="1800" dirty="0">
                <a:solidFill>
                  <a:srgbClr val="707070"/>
                </a:solidFill>
                <a:latin typeface="Arial" pitchFamily="34" charset="0"/>
                <a:ea typeface="Arial" pitchFamily="34" charset="-122"/>
                <a:cs typeface="Arial" pitchFamily="34" charset="-120"/>
              </a:rPr>
              <a:t>  before  </a:t>
            </a:r>
            <a:r>
              <a:rPr lang="en-US" sz="3000" b="1" dirty="0">
                <a:solidFill>
                  <a:srgbClr val="CF3338"/>
                </a:solidFill>
                <a:latin typeface="Arial Black" pitchFamily="34" charset="0"/>
                <a:ea typeface="Arial Black" pitchFamily="34" charset="-122"/>
                <a:cs typeface="Arial Black" pitchFamily="34" charset="-120"/>
              </a:rPr>
              <a:t>“How can we?”</a:t>
            </a:r>
            <a:endParaRPr lang="en-US" sz="3000" dirty="0"/>
          </a:p>
        </p:txBody>
      </p:sp>
      <p:sp>
        <p:nvSpPr>
          <p:cNvPr id="4" name="Text 2"/>
          <p:cNvSpPr/>
          <p:nvPr/>
        </p:nvSpPr>
        <p:spPr>
          <a:xfrm>
            <a:off x="640080" y="960120"/>
            <a:ext cx="8229600" cy="320040"/>
          </a:xfrm>
          <a:prstGeom prst="rect">
            <a:avLst/>
          </a:prstGeom>
          <a:noFill/>
          <a:ln/>
        </p:spPr>
        <p:txBody>
          <a:bodyPr wrap="square" lIns="0" tIns="0" rIns="0" bIns="0" rtlCol="0" anchor="ctr"/>
          <a:lstStyle/>
          <a:p>
            <a:pPr marL="0" indent="0">
              <a:buNone/>
            </a:pPr>
            <a:r>
              <a:rPr lang="en-US" sz="1400" dirty="0">
                <a:solidFill>
                  <a:srgbClr val="707070"/>
                </a:solidFill>
                <a:latin typeface="Arial" pitchFamily="34" charset="0"/>
                <a:ea typeface="Arial" pitchFamily="34" charset="-122"/>
                <a:cs typeface="Arial" pitchFamily="34" charset="-120"/>
              </a:rPr>
              <a:t>The SAFE Framework for AI in Excel</a:t>
            </a:r>
            <a:endParaRPr lang="en-US" sz="1400" dirty="0"/>
          </a:p>
        </p:txBody>
      </p:sp>
      <p:sp>
        <p:nvSpPr>
          <p:cNvPr id="5" name="Shape 3"/>
          <p:cNvSpPr/>
          <p:nvPr/>
        </p:nvSpPr>
        <p:spPr>
          <a:xfrm>
            <a:off x="640080" y="1508760"/>
            <a:ext cx="3840480" cy="1463040"/>
          </a:xfrm>
          <a:prstGeom prst="rect">
            <a:avLst/>
          </a:prstGeom>
          <a:solidFill>
            <a:srgbClr val="2B6B7F"/>
          </a:solidFill>
          <a:ln/>
        </p:spPr>
        <p:txBody>
          <a:bodyPr/>
          <a:lstStyle/>
          <a:p>
            <a:endParaRPr lang="en-US"/>
          </a:p>
        </p:txBody>
      </p:sp>
      <p:sp>
        <p:nvSpPr>
          <p:cNvPr id="6" name="Shape 4"/>
          <p:cNvSpPr/>
          <p:nvPr/>
        </p:nvSpPr>
        <p:spPr>
          <a:xfrm>
            <a:off x="868680" y="1801368"/>
            <a:ext cx="777240" cy="777240"/>
          </a:xfrm>
          <a:prstGeom prst="ellipse">
            <a:avLst/>
          </a:prstGeom>
          <a:solidFill>
            <a:srgbClr val="FFFFFF"/>
          </a:solidFill>
          <a:ln/>
        </p:spPr>
        <p:txBody>
          <a:bodyPr/>
          <a:lstStyle/>
          <a:p>
            <a:endParaRPr lang="en-US"/>
          </a:p>
        </p:txBody>
      </p:sp>
      <p:sp>
        <p:nvSpPr>
          <p:cNvPr id="7" name="Text 5"/>
          <p:cNvSpPr/>
          <p:nvPr/>
        </p:nvSpPr>
        <p:spPr>
          <a:xfrm>
            <a:off x="868680" y="1801368"/>
            <a:ext cx="777240" cy="777240"/>
          </a:xfrm>
          <a:prstGeom prst="rect">
            <a:avLst/>
          </a:prstGeom>
          <a:noFill/>
          <a:ln/>
        </p:spPr>
        <p:txBody>
          <a:bodyPr wrap="square" lIns="0" tIns="0" rIns="0" bIns="0" rtlCol="0" anchor="ctr"/>
          <a:lstStyle/>
          <a:p>
            <a:pPr marL="0" indent="0" algn="ctr">
              <a:buNone/>
            </a:pPr>
            <a:r>
              <a:rPr lang="en-US" sz="3200" b="1" dirty="0">
                <a:solidFill>
                  <a:srgbClr val="2B6B7F"/>
                </a:solidFill>
                <a:latin typeface="Arial Black" pitchFamily="34" charset="0"/>
                <a:ea typeface="Arial Black" pitchFamily="34" charset="-122"/>
                <a:cs typeface="Arial Black" pitchFamily="34" charset="-120"/>
              </a:rPr>
              <a:t>S</a:t>
            </a:r>
            <a:endParaRPr lang="en-US" sz="3200" dirty="0"/>
          </a:p>
        </p:txBody>
      </p:sp>
      <p:sp>
        <p:nvSpPr>
          <p:cNvPr id="8" name="Text 6"/>
          <p:cNvSpPr/>
          <p:nvPr/>
        </p:nvSpPr>
        <p:spPr>
          <a:xfrm>
            <a:off x="1828800" y="1691640"/>
            <a:ext cx="2468880" cy="411480"/>
          </a:xfrm>
          <a:prstGeom prst="rect">
            <a:avLst/>
          </a:prstGeom>
          <a:noFill/>
          <a:ln/>
        </p:spPr>
        <p:txBody>
          <a:bodyPr wrap="square" lIns="0" tIns="0" rIns="0" bIns="0" rtlCol="0" anchor="ctr"/>
          <a:lstStyle/>
          <a:p>
            <a:pPr marL="0" indent="0">
              <a:buNone/>
            </a:pPr>
            <a:r>
              <a:rPr lang="en-US" sz="2000" b="1" dirty="0">
                <a:solidFill>
                  <a:srgbClr val="FFFFFF"/>
                </a:solidFill>
                <a:latin typeface="Arial Black" pitchFamily="34" charset="0"/>
                <a:ea typeface="Arial Black" pitchFamily="34" charset="-122"/>
                <a:cs typeface="Arial Black" pitchFamily="34" charset="-120"/>
              </a:rPr>
              <a:t>Stability</a:t>
            </a:r>
            <a:endParaRPr lang="en-US" sz="2000" dirty="0"/>
          </a:p>
        </p:txBody>
      </p:sp>
      <p:sp>
        <p:nvSpPr>
          <p:cNvPr id="9" name="Text 7"/>
          <p:cNvSpPr/>
          <p:nvPr/>
        </p:nvSpPr>
        <p:spPr>
          <a:xfrm>
            <a:off x="1828800" y="2148840"/>
            <a:ext cx="2468880" cy="548640"/>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How consistent must the output be?</a:t>
            </a:r>
            <a:endParaRPr lang="en-US" sz="1300" dirty="0"/>
          </a:p>
        </p:txBody>
      </p:sp>
      <p:sp>
        <p:nvSpPr>
          <p:cNvPr id="10" name="Shape 8"/>
          <p:cNvSpPr/>
          <p:nvPr/>
        </p:nvSpPr>
        <p:spPr>
          <a:xfrm>
            <a:off x="4754880" y="1508760"/>
            <a:ext cx="3840480" cy="1463040"/>
          </a:xfrm>
          <a:prstGeom prst="rect">
            <a:avLst/>
          </a:prstGeom>
          <a:solidFill>
            <a:srgbClr val="2B6B7F"/>
          </a:solidFill>
          <a:ln/>
        </p:spPr>
        <p:txBody>
          <a:bodyPr/>
          <a:lstStyle/>
          <a:p>
            <a:endParaRPr lang="en-US"/>
          </a:p>
        </p:txBody>
      </p:sp>
      <p:sp>
        <p:nvSpPr>
          <p:cNvPr id="11" name="Shape 9"/>
          <p:cNvSpPr/>
          <p:nvPr/>
        </p:nvSpPr>
        <p:spPr>
          <a:xfrm>
            <a:off x="4983480" y="1801368"/>
            <a:ext cx="777240" cy="777240"/>
          </a:xfrm>
          <a:prstGeom prst="ellipse">
            <a:avLst/>
          </a:prstGeom>
          <a:solidFill>
            <a:srgbClr val="FFFFFF"/>
          </a:solidFill>
          <a:ln/>
        </p:spPr>
        <p:txBody>
          <a:bodyPr/>
          <a:lstStyle/>
          <a:p>
            <a:endParaRPr lang="en-US"/>
          </a:p>
        </p:txBody>
      </p:sp>
      <p:sp>
        <p:nvSpPr>
          <p:cNvPr id="12" name="Text 10"/>
          <p:cNvSpPr/>
          <p:nvPr/>
        </p:nvSpPr>
        <p:spPr>
          <a:xfrm>
            <a:off x="4983480" y="1801368"/>
            <a:ext cx="777240" cy="777240"/>
          </a:xfrm>
          <a:prstGeom prst="rect">
            <a:avLst/>
          </a:prstGeom>
          <a:noFill/>
          <a:ln/>
        </p:spPr>
        <p:txBody>
          <a:bodyPr wrap="square" lIns="0" tIns="0" rIns="0" bIns="0" rtlCol="0" anchor="ctr"/>
          <a:lstStyle/>
          <a:p>
            <a:pPr marL="0" indent="0" algn="ctr">
              <a:buNone/>
            </a:pPr>
            <a:r>
              <a:rPr lang="en-US" sz="3200" b="1" dirty="0">
                <a:solidFill>
                  <a:srgbClr val="2B6B7F"/>
                </a:solidFill>
                <a:latin typeface="Arial Black" pitchFamily="34" charset="0"/>
                <a:ea typeface="Arial Black" pitchFamily="34" charset="-122"/>
                <a:cs typeface="Arial Black" pitchFamily="34" charset="-120"/>
              </a:rPr>
              <a:t>A</a:t>
            </a:r>
            <a:endParaRPr lang="en-US" sz="3200" dirty="0"/>
          </a:p>
        </p:txBody>
      </p:sp>
      <p:sp>
        <p:nvSpPr>
          <p:cNvPr id="13" name="Text 11"/>
          <p:cNvSpPr/>
          <p:nvPr/>
        </p:nvSpPr>
        <p:spPr>
          <a:xfrm>
            <a:off x="5943600" y="1691640"/>
            <a:ext cx="2468880" cy="411480"/>
          </a:xfrm>
          <a:prstGeom prst="rect">
            <a:avLst/>
          </a:prstGeom>
          <a:noFill/>
          <a:ln/>
        </p:spPr>
        <p:txBody>
          <a:bodyPr wrap="square" lIns="0" tIns="0" rIns="0" bIns="0" rtlCol="0" anchor="ctr"/>
          <a:lstStyle/>
          <a:p>
            <a:pPr marL="0" indent="0">
              <a:buNone/>
            </a:pPr>
            <a:r>
              <a:rPr lang="en-US" sz="2000" b="1" dirty="0">
                <a:solidFill>
                  <a:srgbClr val="FFFFFF"/>
                </a:solidFill>
                <a:latin typeface="Arial Black" pitchFamily="34" charset="0"/>
                <a:ea typeface="Arial Black" pitchFamily="34" charset="-122"/>
                <a:cs typeface="Arial Black" pitchFamily="34" charset="-120"/>
              </a:rPr>
              <a:t>Ambiguity</a:t>
            </a:r>
            <a:endParaRPr lang="en-US" sz="2000" dirty="0"/>
          </a:p>
        </p:txBody>
      </p:sp>
      <p:sp>
        <p:nvSpPr>
          <p:cNvPr id="14" name="Text 12"/>
          <p:cNvSpPr/>
          <p:nvPr/>
        </p:nvSpPr>
        <p:spPr>
          <a:xfrm>
            <a:off x="5943600" y="2148840"/>
            <a:ext cx="2468880" cy="548640"/>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How well-defined is the task?</a:t>
            </a:r>
            <a:endParaRPr lang="en-US" sz="1300" dirty="0"/>
          </a:p>
        </p:txBody>
      </p:sp>
      <p:sp>
        <p:nvSpPr>
          <p:cNvPr id="15" name="Shape 13"/>
          <p:cNvSpPr/>
          <p:nvPr/>
        </p:nvSpPr>
        <p:spPr>
          <a:xfrm>
            <a:off x="640080" y="3200400"/>
            <a:ext cx="3840480" cy="1463040"/>
          </a:xfrm>
          <a:prstGeom prst="rect">
            <a:avLst/>
          </a:prstGeom>
          <a:solidFill>
            <a:srgbClr val="2B6B7F"/>
          </a:solidFill>
          <a:ln/>
        </p:spPr>
        <p:txBody>
          <a:bodyPr/>
          <a:lstStyle/>
          <a:p>
            <a:endParaRPr lang="en-US"/>
          </a:p>
        </p:txBody>
      </p:sp>
      <p:sp>
        <p:nvSpPr>
          <p:cNvPr id="16" name="Shape 14"/>
          <p:cNvSpPr/>
          <p:nvPr/>
        </p:nvSpPr>
        <p:spPr>
          <a:xfrm>
            <a:off x="868680" y="3493008"/>
            <a:ext cx="777240" cy="777240"/>
          </a:xfrm>
          <a:prstGeom prst="ellipse">
            <a:avLst/>
          </a:prstGeom>
          <a:solidFill>
            <a:srgbClr val="FFFFFF"/>
          </a:solidFill>
          <a:ln/>
        </p:spPr>
        <p:txBody>
          <a:bodyPr/>
          <a:lstStyle/>
          <a:p>
            <a:endParaRPr lang="en-US"/>
          </a:p>
        </p:txBody>
      </p:sp>
      <p:sp>
        <p:nvSpPr>
          <p:cNvPr id="17" name="Text 15"/>
          <p:cNvSpPr/>
          <p:nvPr/>
        </p:nvSpPr>
        <p:spPr>
          <a:xfrm>
            <a:off x="868680" y="3493008"/>
            <a:ext cx="777240" cy="777240"/>
          </a:xfrm>
          <a:prstGeom prst="rect">
            <a:avLst/>
          </a:prstGeom>
          <a:noFill/>
          <a:ln/>
        </p:spPr>
        <p:txBody>
          <a:bodyPr wrap="square" lIns="0" tIns="0" rIns="0" bIns="0" rtlCol="0" anchor="ctr"/>
          <a:lstStyle/>
          <a:p>
            <a:pPr marL="0" indent="0" algn="ctr">
              <a:buNone/>
            </a:pPr>
            <a:r>
              <a:rPr lang="en-US" sz="3200" b="1" dirty="0">
                <a:solidFill>
                  <a:srgbClr val="2B6B7F"/>
                </a:solidFill>
                <a:latin typeface="Arial Black" pitchFamily="34" charset="0"/>
                <a:ea typeface="Arial Black" pitchFamily="34" charset="-122"/>
                <a:cs typeface="Arial Black" pitchFamily="34" charset="-120"/>
              </a:rPr>
              <a:t>F</a:t>
            </a:r>
            <a:endParaRPr lang="en-US" sz="3200" dirty="0"/>
          </a:p>
        </p:txBody>
      </p:sp>
      <p:sp>
        <p:nvSpPr>
          <p:cNvPr id="18" name="Text 16"/>
          <p:cNvSpPr/>
          <p:nvPr/>
        </p:nvSpPr>
        <p:spPr>
          <a:xfrm>
            <a:off x="1828800" y="3383280"/>
            <a:ext cx="2468880" cy="411480"/>
          </a:xfrm>
          <a:prstGeom prst="rect">
            <a:avLst/>
          </a:prstGeom>
          <a:noFill/>
          <a:ln/>
        </p:spPr>
        <p:txBody>
          <a:bodyPr wrap="square" lIns="0" tIns="0" rIns="0" bIns="0" rtlCol="0" anchor="ctr"/>
          <a:lstStyle/>
          <a:p>
            <a:pPr marL="0" indent="0">
              <a:buNone/>
            </a:pPr>
            <a:r>
              <a:rPr lang="en-US" sz="2000" b="1" dirty="0">
                <a:solidFill>
                  <a:srgbClr val="FFFFFF"/>
                </a:solidFill>
                <a:latin typeface="Arial Black" pitchFamily="34" charset="0"/>
                <a:ea typeface="Arial Black" pitchFamily="34" charset="-122"/>
                <a:cs typeface="Arial Black" pitchFamily="34" charset="-120"/>
              </a:rPr>
              <a:t>Frequency</a:t>
            </a:r>
            <a:endParaRPr lang="en-US" sz="2000" dirty="0"/>
          </a:p>
        </p:txBody>
      </p:sp>
      <p:sp>
        <p:nvSpPr>
          <p:cNvPr id="19" name="Text 17"/>
          <p:cNvSpPr/>
          <p:nvPr/>
        </p:nvSpPr>
        <p:spPr>
          <a:xfrm>
            <a:off x="1828800" y="3840480"/>
            <a:ext cx="2468880" cy="548640"/>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Is this a one-off or recurring?</a:t>
            </a:r>
            <a:endParaRPr lang="en-US" sz="1300" dirty="0"/>
          </a:p>
        </p:txBody>
      </p:sp>
      <p:sp>
        <p:nvSpPr>
          <p:cNvPr id="20" name="Shape 18"/>
          <p:cNvSpPr/>
          <p:nvPr/>
        </p:nvSpPr>
        <p:spPr>
          <a:xfrm>
            <a:off x="4754880" y="3200400"/>
            <a:ext cx="3840480" cy="1463040"/>
          </a:xfrm>
          <a:prstGeom prst="rect">
            <a:avLst/>
          </a:prstGeom>
          <a:solidFill>
            <a:srgbClr val="2B6B7F"/>
          </a:solidFill>
          <a:ln/>
        </p:spPr>
        <p:txBody>
          <a:bodyPr/>
          <a:lstStyle/>
          <a:p>
            <a:endParaRPr lang="en-US"/>
          </a:p>
        </p:txBody>
      </p:sp>
      <p:sp>
        <p:nvSpPr>
          <p:cNvPr id="21" name="Shape 19"/>
          <p:cNvSpPr/>
          <p:nvPr/>
        </p:nvSpPr>
        <p:spPr>
          <a:xfrm>
            <a:off x="4983480" y="3493008"/>
            <a:ext cx="777240" cy="777240"/>
          </a:xfrm>
          <a:prstGeom prst="ellipse">
            <a:avLst/>
          </a:prstGeom>
          <a:solidFill>
            <a:srgbClr val="FFFFFF"/>
          </a:solidFill>
          <a:ln/>
        </p:spPr>
        <p:txBody>
          <a:bodyPr/>
          <a:lstStyle/>
          <a:p>
            <a:endParaRPr lang="en-US"/>
          </a:p>
        </p:txBody>
      </p:sp>
      <p:sp>
        <p:nvSpPr>
          <p:cNvPr id="22" name="Text 20"/>
          <p:cNvSpPr/>
          <p:nvPr/>
        </p:nvSpPr>
        <p:spPr>
          <a:xfrm>
            <a:off x="4983480" y="3493008"/>
            <a:ext cx="777240" cy="777240"/>
          </a:xfrm>
          <a:prstGeom prst="rect">
            <a:avLst/>
          </a:prstGeom>
          <a:noFill/>
          <a:ln/>
        </p:spPr>
        <p:txBody>
          <a:bodyPr wrap="square" lIns="0" tIns="0" rIns="0" bIns="0" rtlCol="0" anchor="ctr"/>
          <a:lstStyle/>
          <a:p>
            <a:pPr marL="0" indent="0" algn="ctr">
              <a:buNone/>
            </a:pPr>
            <a:r>
              <a:rPr lang="en-US" sz="3200" b="1" dirty="0">
                <a:solidFill>
                  <a:srgbClr val="2B6B7F"/>
                </a:solidFill>
                <a:latin typeface="Arial Black" pitchFamily="34" charset="0"/>
                <a:ea typeface="Arial Black" pitchFamily="34" charset="-122"/>
                <a:cs typeface="Arial Black" pitchFamily="34" charset="-120"/>
              </a:rPr>
              <a:t>E</a:t>
            </a:r>
            <a:endParaRPr lang="en-US" sz="3200" dirty="0"/>
          </a:p>
        </p:txBody>
      </p:sp>
      <p:sp>
        <p:nvSpPr>
          <p:cNvPr id="23" name="Text 21"/>
          <p:cNvSpPr/>
          <p:nvPr/>
        </p:nvSpPr>
        <p:spPr>
          <a:xfrm>
            <a:off x="5943600" y="3383280"/>
            <a:ext cx="2468880" cy="411480"/>
          </a:xfrm>
          <a:prstGeom prst="rect">
            <a:avLst/>
          </a:prstGeom>
          <a:noFill/>
          <a:ln/>
        </p:spPr>
        <p:txBody>
          <a:bodyPr wrap="square" lIns="0" tIns="0" rIns="0" bIns="0" rtlCol="0" anchor="ctr"/>
          <a:lstStyle/>
          <a:p>
            <a:pPr marL="0" indent="0">
              <a:buNone/>
            </a:pPr>
            <a:r>
              <a:rPr lang="en-US" sz="2000" b="1" dirty="0">
                <a:solidFill>
                  <a:srgbClr val="FFFFFF"/>
                </a:solidFill>
                <a:latin typeface="Arial Black" pitchFamily="34" charset="0"/>
                <a:ea typeface="Arial Black" pitchFamily="34" charset="-122"/>
                <a:cs typeface="Arial Black" pitchFamily="34" charset="-120"/>
              </a:rPr>
              <a:t>Exposure</a:t>
            </a:r>
            <a:endParaRPr lang="en-US" sz="2000" dirty="0"/>
          </a:p>
        </p:txBody>
      </p:sp>
      <p:sp>
        <p:nvSpPr>
          <p:cNvPr id="24" name="Text 22"/>
          <p:cNvSpPr/>
          <p:nvPr/>
        </p:nvSpPr>
        <p:spPr>
          <a:xfrm>
            <a:off x="5943600" y="3840480"/>
            <a:ext cx="2468880" cy="548640"/>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Who depends on the result?</a:t>
            </a:r>
            <a:endParaRPr lang="en-US" sz="1300" dirty="0"/>
          </a:p>
        </p:txBody>
      </p:sp>
      <p:sp>
        <p:nvSpPr>
          <p:cNvPr id="25" name="Text 23"/>
          <p:cNvSpPr/>
          <p:nvPr/>
        </p:nvSpPr>
        <p:spPr>
          <a:xfrm>
            <a:off x="6583680" y="4754880"/>
            <a:ext cx="2286000" cy="274320"/>
          </a:xfrm>
          <a:prstGeom prst="rect">
            <a:avLst/>
          </a:prstGeom>
          <a:noFill/>
          <a:ln/>
        </p:spPr>
        <p:txBody>
          <a:bodyPr wrap="square" lIns="0" tIns="0" rIns="0" bIns="0" rtlCol="0" anchor="ctr"/>
          <a:lstStyle/>
          <a:p>
            <a:pPr marL="0" indent="0" algn="r">
              <a:buNone/>
            </a:pPr>
            <a:r>
              <a:rPr lang="en-US" sz="900" dirty="0">
                <a:solidFill>
                  <a:srgbClr val="707070"/>
                </a:solidFill>
                <a:latin typeface="Arial Black" pitchFamily="34" charset="0"/>
                <a:ea typeface="Arial Black" pitchFamily="34" charset="-122"/>
                <a:cs typeface="Arial Black" pitchFamily="34" charset="-120"/>
              </a:rPr>
              <a:t>Stringfest Analytics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name="Slide 5">
    <p:bg>
      <p:bgPr>
        <a:solidFill>
          <a:srgbClr val="EEECE1"/>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F3338"/>
          </a:solidFill>
          <a:ln/>
        </p:spPr>
        <p:txBody>
          <a:bodyPr/>
          <a:lstStyle/>
          <a:p>
            <a:endParaRPr lang="en-US"/>
          </a:p>
        </p:txBody>
      </p:sp>
      <p:sp>
        <p:nvSpPr>
          <p:cNvPr id="3" name="Text 1"/>
          <p:cNvSpPr/>
          <p:nvPr/>
        </p:nvSpPr>
        <p:spPr>
          <a:xfrm>
            <a:off x="640080" y="274320"/>
            <a:ext cx="8229600" cy="502920"/>
          </a:xfrm>
          <a:prstGeom prst="rect">
            <a:avLst/>
          </a:prstGeom>
          <a:noFill/>
          <a:ln/>
        </p:spPr>
        <p:txBody>
          <a:bodyPr wrap="square" lIns="0" tIns="0" rIns="0" bIns="0" rtlCol="0" anchor="ctr"/>
          <a:lstStyle/>
          <a:p>
            <a:pPr marL="0" indent="0">
              <a:buNone/>
            </a:pPr>
            <a:r>
              <a:rPr lang="en-US" sz="2600" b="1" dirty="0">
                <a:solidFill>
                  <a:srgbClr val="1F2120"/>
                </a:solidFill>
                <a:latin typeface="Arial Black" pitchFamily="34" charset="0"/>
                <a:ea typeface="Arial Black" pitchFamily="34" charset="-122"/>
                <a:cs typeface="Arial Black" pitchFamily="34" charset="-120"/>
              </a:rPr>
              <a:t>Scripts vs. Prompts: Know the Difference</a:t>
            </a:r>
            <a:endParaRPr lang="en-US" sz="2600" dirty="0"/>
          </a:p>
        </p:txBody>
      </p:sp>
      <p:sp>
        <p:nvSpPr>
          <p:cNvPr id="4" name="Text 2"/>
          <p:cNvSpPr/>
          <p:nvPr/>
        </p:nvSpPr>
        <p:spPr>
          <a:xfrm>
            <a:off x="640080" y="777240"/>
            <a:ext cx="7772400" cy="274320"/>
          </a:xfrm>
          <a:prstGeom prst="rect">
            <a:avLst/>
          </a:prstGeom>
          <a:noFill/>
          <a:ln/>
        </p:spPr>
        <p:txBody>
          <a:bodyPr wrap="square" lIns="0" tIns="0" rIns="0" bIns="0" rtlCol="0" anchor="ctr"/>
          <a:lstStyle/>
          <a:p>
            <a:pPr marL="0" indent="0">
              <a:buNone/>
            </a:pPr>
            <a:r>
              <a:rPr lang="en-US" sz="1300" dirty="0">
                <a:solidFill>
                  <a:srgbClr val="707070"/>
                </a:solidFill>
                <a:latin typeface="Arial" pitchFamily="34" charset="0"/>
                <a:ea typeface="Arial" pitchFamily="34" charset="-122"/>
                <a:cs typeface="Arial" pitchFamily="34" charset="-120"/>
              </a:rPr>
              <a:t>A deterministic script gives the same answer every time. A probabilistic prompt may not.</a:t>
            </a:r>
            <a:endParaRPr lang="en-US" sz="1300" dirty="0"/>
          </a:p>
        </p:txBody>
      </p:sp>
      <p:sp>
        <p:nvSpPr>
          <p:cNvPr id="5" name="Text 3"/>
          <p:cNvSpPr/>
          <p:nvPr/>
        </p:nvSpPr>
        <p:spPr>
          <a:xfrm>
            <a:off x="45720" y="1143000"/>
            <a:ext cx="502920" cy="1554480"/>
          </a:xfrm>
          <a:prstGeom prst="rect">
            <a:avLst/>
          </a:prstGeom>
          <a:noFill/>
          <a:ln/>
        </p:spPr>
        <p:txBody>
          <a:bodyPr wrap="square" lIns="0" tIns="0" rIns="0" bIns="0" rtlCol="0" anchor="t"/>
          <a:lstStyle/>
          <a:p>
            <a:pPr marL="0" indent="0" algn="ctr">
              <a:buNone/>
            </a:pPr>
            <a:r>
              <a:rPr lang="en-US" sz="900" b="1" dirty="0">
                <a:solidFill>
                  <a:srgbClr val="CF3338"/>
                </a:solidFill>
                <a:latin typeface="Arial Black" pitchFamily="34" charset="0"/>
                <a:ea typeface="Arial Black" pitchFamily="34" charset="-122"/>
                <a:cs typeface="Arial Black" pitchFamily="34" charset="-120"/>
              </a:rPr>
              <a:t>↑ More stable</a:t>
            </a:r>
            <a:endParaRPr lang="en-US" sz="900" dirty="0"/>
          </a:p>
        </p:txBody>
      </p:sp>
      <p:sp>
        <p:nvSpPr>
          <p:cNvPr id="6" name="Text 4"/>
          <p:cNvSpPr/>
          <p:nvPr/>
        </p:nvSpPr>
        <p:spPr>
          <a:xfrm>
            <a:off x="45720" y="2834640"/>
            <a:ext cx="502920" cy="1554480"/>
          </a:xfrm>
          <a:prstGeom prst="rect">
            <a:avLst/>
          </a:prstGeom>
          <a:noFill/>
          <a:ln/>
        </p:spPr>
        <p:txBody>
          <a:bodyPr wrap="square" lIns="0" tIns="0" rIns="0" bIns="0" rtlCol="0" anchor="b"/>
          <a:lstStyle/>
          <a:p>
            <a:pPr marL="0" indent="0" algn="ctr">
              <a:buNone/>
            </a:pPr>
            <a:r>
              <a:rPr lang="en-US" sz="900" b="1" dirty="0">
                <a:solidFill>
                  <a:srgbClr val="CF3338"/>
                </a:solidFill>
                <a:latin typeface="Arial Black" pitchFamily="34" charset="0"/>
                <a:ea typeface="Arial Black" pitchFamily="34" charset="-122"/>
                <a:cs typeface="Arial Black" pitchFamily="34" charset="-120"/>
              </a:rPr>
              <a:t>↓ Less stable</a:t>
            </a:r>
            <a:endParaRPr lang="en-US" sz="900" dirty="0"/>
          </a:p>
        </p:txBody>
      </p:sp>
      <p:sp>
        <p:nvSpPr>
          <p:cNvPr id="7" name="Text 5"/>
          <p:cNvSpPr/>
          <p:nvPr/>
        </p:nvSpPr>
        <p:spPr>
          <a:xfrm>
            <a:off x="640080" y="4709160"/>
            <a:ext cx="7772400" cy="274320"/>
          </a:xfrm>
          <a:prstGeom prst="rect">
            <a:avLst/>
          </a:prstGeom>
          <a:noFill/>
          <a:ln/>
        </p:spPr>
        <p:txBody>
          <a:bodyPr wrap="square" lIns="0" tIns="0" rIns="0" bIns="0" rtlCol="0" anchor="ctr"/>
          <a:lstStyle/>
          <a:p>
            <a:pPr marL="0" indent="0" algn="ctr">
              <a:buNone/>
            </a:pPr>
            <a:r>
              <a:rPr lang="en-US" sz="1000" b="1" dirty="0">
                <a:solidFill>
                  <a:srgbClr val="CF3338"/>
                </a:solidFill>
                <a:latin typeface="Arial Black" pitchFamily="34" charset="0"/>
                <a:ea typeface="Arial Black" pitchFamily="34" charset="-122"/>
                <a:cs typeface="Arial Black" pitchFamily="34" charset="-120"/>
              </a:rPr>
              <a:t>←  Less ambiguous                                                                              More ambiguous  →</a:t>
            </a:r>
            <a:endParaRPr lang="en-US" sz="1000" dirty="0"/>
          </a:p>
        </p:txBody>
      </p:sp>
      <p:sp>
        <p:nvSpPr>
          <p:cNvPr id="8" name="Shape 6"/>
          <p:cNvSpPr/>
          <p:nvPr/>
        </p:nvSpPr>
        <p:spPr>
          <a:xfrm>
            <a:off x="640080" y="1143000"/>
            <a:ext cx="3840480" cy="1554480"/>
          </a:xfrm>
          <a:prstGeom prst="rect">
            <a:avLst/>
          </a:prstGeom>
          <a:solidFill>
            <a:srgbClr val="2B6B7F"/>
          </a:solidFill>
          <a:ln/>
        </p:spPr>
        <p:txBody>
          <a:bodyPr/>
          <a:lstStyle/>
          <a:p>
            <a:endParaRPr lang="en-US"/>
          </a:p>
        </p:txBody>
      </p:sp>
      <p:sp>
        <p:nvSpPr>
          <p:cNvPr id="9" name="Text 7"/>
          <p:cNvSpPr/>
          <p:nvPr/>
        </p:nvSpPr>
        <p:spPr>
          <a:xfrm>
            <a:off x="868680" y="1252728"/>
            <a:ext cx="3383280" cy="347472"/>
          </a:xfrm>
          <a:prstGeom prst="rect">
            <a:avLst/>
          </a:prstGeom>
          <a:noFill/>
          <a:ln/>
        </p:spPr>
        <p:txBody>
          <a:bodyPr wrap="square" lIns="0" tIns="0" rIns="0" bIns="0" rtlCol="0" anchor="ctr"/>
          <a:lstStyle/>
          <a:p>
            <a:pPr marL="0" indent="0">
              <a:buNone/>
            </a:pPr>
            <a:r>
              <a:rPr lang="en-US" sz="1600" b="1" dirty="0">
                <a:solidFill>
                  <a:srgbClr val="FFFFFF"/>
                </a:solidFill>
                <a:latin typeface="Arial Black" pitchFamily="34" charset="0"/>
                <a:ea typeface="Arial Black" pitchFamily="34" charset="-122"/>
                <a:cs typeface="Arial Black" pitchFamily="34" charset="-120"/>
              </a:rPr>
              <a:t>Rules Must Hold</a:t>
            </a:r>
            <a:endParaRPr lang="en-US" sz="1600" dirty="0"/>
          </a:p>
        </p:txBody>
      </p:sp>
      <p:sp>
        <p:nvSpPr>
          <p:cNvPr id="10" name="Text 8"/>
          <p:cNvSpPr/>
          <p:nvPr/>
        </p:nvSpPr>
        <p:spPr>
          <a:xfrm>
            <a:off x="868680" y="1645920"/>
            <a:ext cx="3383280" cy="274320"/>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Power Query · Formulas · PivotTables</a:t>
            </a:r>
            <a:endParaRPr lang="en-US" sz="1100" dirty="0"/>
          </a:p>
        </p:txBody>
      </p:sp>
      <p:sp>
        <p:nvSpPr>
          <p:cNvPr id="11" name="Text 9"/>
          <p:cNvSpPr/>
          <p:nvPr/>
        </p:nvSpPr>
        <p:spPr>
          <a:xfrm>
            <a:off x="868680" y="2011680"/>
            <a:ext cx="3383280" cy="502920"/>
          </a:xfrm>
          <a:prstGeom prst="rect">
            <a:avLst/>
          </a:prstGeom>
          <a:noFill/>
          <a:ln/>
        </p:spPr>
        <p:txBody>
          <a:bodyPr wrap="square" lIns="0" tIns="0" rIns="0" bIns="0" rtlCol="0" anchor="ctr"/>
          <a:lstStyle/>
          <a:p>
            <a:pPr marL="0" indent="0">
              <a:buNone/>
            </a:pPr>
            <a:r>
              <a:rPr lang="en-US" sz="1100" i="1" dirty="0">
                <a:solidFill>
                  <a:srgbClr val="FFFFFF"/>
                </a:solidFill>
                <a:latin typeface="Arial" pitchFamily="34" charset="0"/>
                <a:ea typeface="Arial" pitchFamily="34" charset="-122"/>
                <a:cs typeface="Arial" pitchFamily="34" charset="-120"/>
              </a:rPr>
              <a:t>Use for: Monthly reporting, data cleanup, KPI calcs</a:t>
            </a:r>
            <a:endParaRPr lang="en-US" sz="1100" dirty="0"/>
          </a:p>
        </p:txBody>
      </p:sp>
      <p:sp>
        <p:nvSpPr>
          <p:cNvPr id="12" name="Shape 10"/>
          <p:cNvSpPr/>
          <p:nvPr/>
        </p:nvSpPr>
        <p:spPr>
          <a:xfrm>
            <a:off x="4709160" y="1143000"/>
            <a:ext cx="3840480" cy="1554480"/>
          </a:xfrm>
          <a:prstGeom prst="rect">
            <a:avLst/>
          </a:prstGeom>
          <a:solidFill>
            <a:srgbClr val="1E4D5C"/>
          </a:solidFill>
          <a:ln/>
        </p:spPr>
        <p:txBody>
          <a:bodyPr/>
          <a:lstStyle/>
          <a:p>
            <a:endParaRPr lang="en-US"/>
          </a:p>
        </p:txBody>
      </p:sp>
      <p:sp>
        <p:nvSpPr>
          <p:cNvPr id="13" name="Text 11"/>
          <p:cNvSpPr/>
          <p:nvPr/>
        </p:nvSpPr>
        <p:spPr>
          <a:xfrm>
            <a:off x="4937760" y="1252728"/>
            <a:ext cx="3383280" cy="347472"/>
          </a:xfrm>
          <a:prstGeom prst="rect">
            <a:avLst/>
          </a:prstGeom>
          <a:noFill/>
          <a:ln/>
        </p:spPr>
        <p:txBody>
          <a:bodyPr wrap="square" lIns="0" tIns="0" rIns="0" bIns="0" rtlCol="0" anchor="ctr"/>
          <a:lstStyle/>
          <a:p>
            <a:pPr marL="0" indent="0">
              <a:buNone/>
            </a:pPr>
            <a:r>
              <a:rPr lang="en-US" sz="1600" b="1" dirty="0">
                <a:solidFill>
                  <a:srgbClr val="FFFFFF"/>
                </a:solidFill>
                <a:latin typeface="Arial Black" pitchFamily="34" charset="0"/>
                <a:ea typeface="Arial Black" pitchFamily="34" charset="-122"/>
                <a:cs typeface="Arial Black" pitchFamily="34" charset="-120"/>
              </a:rPr>
              <a:t>Judgment Zone</a:t>
            </a:r>
            <a:endParaRPr lang="en-US" sz="1600" dirty="0"/>
          </a:p>
        </p:txBody>
      </p:sp>
      <p:sp>
        <p:nvSpPr>
          <p:cNvPr id="14" name="Text 12"/>
          <p:cNvSpPr/>
          <p:nvPr/>
        </p:nvSpPr>
        <p:spPr>
          <a:xfrm>
            <a:off x="4937760" y="1645920"/>
            <a:ext cx="3383280" cy="274320"/>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Human judgment · Formulas · Light AI</a:t>
            </a:r>
            <a:endParaRPr lang="en-US" sz="1100" dirty="0"/>
          </a:p>
        </p:txBody>
      </p:sp>
      <p:sp>
        <p:nvSpPr>
          <p:cNvPr id="15" name="Text 13"/>
          <p:cNvSpPr/>
          <p:nvPr/>
        </p:nvSpPr>
        <p:spPr>
          <a:xfrm>
            <a:off x="4937760" y="2011680"/>
            <a:ext cx="3383280" cy="502920"/>
          </a:xfrm>
          <a:prstGeom prst="rect">
            <a:avLst/>
          </a:prstGeom>
          <a:noFill/>
          <a:ln/>
        </p:spPr>
        <p:txBody>
          <a:bodyPr wrap="square" lIns="0" tIns="0" rIns="0" bIns="0" rtlCol="0" anchor="ctr"/>
          <a:lstStyle/>
          <a:p>
            <a:pPr marL="0" indent="0">
              <a:buNone/>
            </a:pPr>
            <a:r>
              <a:rPr lang="en-US" sz="1100" i="1" dirty="0">
                <a:solidFill>
                  <a:srgbClr val="FFFFFF"/>
                </a:solidFill>
                <a:latin typeface="Arial" pitchFamily="34" charset="0"/>
                <a:ea typeface="Arial" pitchFamily="34" charset="-122"/>
                <a:cs typeface="Arial" pitchFamily="34" charset="-120"/>
              </a:rPr>
              <a:t>Use for: Defining metrics, business rules, edge cases</a:t>
            </a:r>
            <a:endParaRPr lang="en-US" sz="1100" dirty="0"/>
          </a:p>
        </p:txBody>
      </p:sp>
      <p:sp>
        <p:nvSpPr>
          <p:cNvPr id="16" name="Shape 14"/>
          <p:cNvSpPr/>
          <p:nvPr/>
        </p:nvSpPr>
        <p:spPr>
          <a:xfrm>
            <a:off x="640080" y="2834640"/>
            <a:ext cx="3840480" cy="1554480"/>
          </a:xfrm>
          <a:prstGeom prst="rect">
            <a:avLst/>
          </a:prstGeom>
          <a:solidFill>
            <a:srgbClr val="CF3338"/>
          </a:solidFill>
          <a:ln/>
        </p:spPr>
        <p:txBody>
          <a:bodyPr/>
          <a:lstStyle/>
          <a:p>
            <a:endParaRPr lang="en-US"/>
          </a:p>
        </p:txBody>
      </p:sp>
      <p:sp>
        <p:nvSpPr>
          <p:cNvPr id="17" name="Text 15"/>
          <p:cNvSpPr/>
          <p:nvPr/>
        </p:nvSpPr>
        <p:spPr>
          <a:xfrm>
            <a:off x="868680" y="2944368"/>
            <a:ext cx="3383280" cy="347472"/>
          </a:xfrm>
          <a:prstGeom prst="rect">
            <a:avLst/>
          </a:prstGeom>
          <a:noFill/>
          <a:ln/>
        </p:spPr>
        <p:txBody>
          <a:bodyPr wrap="square" lIns="0" tIns="0" rIns="0" bIns="0" rtlCol="0" anchor="ctr"/>
          <a:lstStyle/>
          <a:p>
            <a:pPr marL="0" indent="0">
              <a:buNone/>
            </a:pPr>
            <a:r>
              <a:rPr lang="en-US" sz="1600" b="1" dirty="0">
                <a:solidFill>
                  <a:srgbClr val="FFFFFF"/>
                </a:solidFill>
                <a:latin typeface="Arial Black" pitchFamily="34" charset="0"/>
                <a:ea typeface="Arial Black" pitchFamily="34" charset="-122"/>
                <a:cs typeface="Arial Black" pitchFamily="34" charset="-120"/>
              </a:rPr>
              <a:t>AI Sweet Spot</a:t>
            </a:r>
            <a:endParaRPr lang="en-US" sz="1600" dirty="0"/>
          </a:p>
        </p:txBody>
      </p:sp>
      <p:sp>
        <p:nvSpPr>
          <p:cNvPr id="18" name="Text 16"/>
          <p:cNvSpPr/>
          <p:nvPr/>
        </p:nvSpPr>
        <p:spPr>
          <a:xfrm>
            <a:off x="868680" y="3337560"/>
            <a:ext cx="3383280" cy="274320"/>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Copilot · Python in Excel · AI visuals</a:t>
            </a:r>
            <a:endParaRPr lang="en-US" sz="1100" dirty="0"/>
          </a:p>
        </p:txBody>
      </p:sp>
      <p:sp>
        <p:nvSpPr>
          <p:cNvPr id="19" name="Text 17"/>
          <p:cNvSpPr/>
          <p:nvPr/>
        </p:nvSpPr>
        <p:spPr>
          <a:xfrm>
            <a:off x="868680" y="3703320"/>
            <a:ext cx="3383280" cy="502920"/>
          </a:xfrm>
          <a:prstGeom prst="rect">
            <a:avLst/>
          </a:prstGeom>
          <a:noFill/>
          <a:ln/>
        </p:spPr>
        <p:txBody>
          <a:bodyPr wrap="square" lIns="0" tIns="0" rIns="0" bIns="0" rtlCol="0" anchor="ctr"/>
          <a:lstStyle/>
          <a:p>
            <a:pPr marL="0" indent="0">
              <a:buNone/>
            </a:pPr>
            <a:r>
              <a:rPr lang="en-US" sz="1100" i="1" dirty="0">
                <a:solidFill>
                  <a:srgbClr val="FFFFFF"/>
                </a:solidFill>
                <a:latin typeface="Arial" pitchFamily="34" charset="0"/>
                <a:ea typeface="Arial" pitchFamily="34" charset="-122"/>
                <a:cs typeface="Arial" pitchFamily="34" charset="-120"/>
              </a:rPr>
              <a:t>Use for: Exploratory analysis, draft charts, sanity checks</a:t>
            </a:r>
            <a:endParaRPr lang="en-US" sz="1100" dirty="0"/>
          </a:p>
        </p:txBody>
      </p:sp>
      <p:sp>
        <p:nvSpPr>
          <p:cNvPr id="20" name="Shape 18"/>
          <p:cNvSpPr/>
          <p:nvPr/>
        </p:nvSpPr>
        <p:spPr>
          <a:xfrm>
            <a:off x="4709160" y="2834640"/>
            <a:ext cx="3840480" cy="1554480"/>
          </a:xfrm>
          <a:prstGeom prst="rect">
            <a:avLst/>
          </a:prstGeom>
          <a:solidFill>
            <a:srgbClr val="8B8B8B"/>
          </a:solidFill>
          <a:ln/>
        </p:spPr>
        <p:txBody>
          <a:bodyPr/>
          <a:lstStyle/>
          <a:p>
            <a:endParaRPr lang="en-US"/>
          </a:p>
        </p:txBody>
      </p:sp>
      <p:sp>
        <p:nvSpPr>
          <p:cNvPr id="21" name="Text 19"/>
          <p:cNvSpPr/>
          <p:nvPr/>
        </p:nvSpPr>
        <p:spPr>
          <a:xfrm>
            <a:off x="4937760" y="2944368"/>
            <a:ext cx="3383280" cy="347472"/>
          </a:xfrm>
          <a:prstGeom prst="rect">
            <a:avLst/>
          </a:prstGeom>
          <a:noFill/>
          <a:ln/>
        </p:spPr>
        <p:txBody>
          <a:bodyPr wrap="square" lIns="0" tIns="0" rIns="0" bIns="0" rtlCol="0" anchor="ctr"/>
          <a:lstStyle/>
          <a:p>
            <a:pPr marL="0" indent="0">
              <a:buNone/>
            </a:pPr>
            <a:r>
              <a:rPr lang="en-US" sz="1600" b="1" dirty="0">
                <a:solidFill>
                  <a:srgbClr val="FFFFFF"/>
                </a:solidFill>
                <a:latin typeface="Arial Black" pitchFamily="34" charset="0"/>
                <a:ea typeface="Arial Black" pitchFamily="34" charset="-122"/>
                <a:cs typeface="Arial Black" pitchFamily="34" charset="-120"/>
              </a:rPr>
              <a:t>Convenience Zone</a:t>
            </a:r>
            <a:endParaRPr lang="en-US" sz="1600" dirty="0"/>
          </a:p>
        </p:txBody>
      </p:sp>
      <p:sp>
        <p:nvSpPr>
          <p:cNvPr id="22" name="Text 20"/>
          <p:cNvSpPr/>
          <p:nvPr/>
        </p:nvSpPr>
        <p:spPr>
          <a:xfrm>
            <a:off x="4937760" y="3337560"/>
            <a:ext cx="3383280" cy="274320"/>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Either — whatever is fastest</a:t>
            </a:r>
            <a:endParaRPr lang="en-US" sz="1100" dirty="0"/>
          </a:p>
        </p:txBody>
      </p:sp>
      <p:sp>
        <p:nvSpPr>
          <p:cNvPr id="23" name="Text 21"/>
          <p:cNvSpPr/>
          <p:nvPr/>
        </p:nvSpPr>
        <p:spPr>
          <a:xfrm>
            <a:off x="4937760" y="3703320"/>
            <a:ext cx="3383280" cy="502920"/>
          </a:xfrm>
          <a:prstGeom prst="rect">
            <a:avLst/>
          </a:prstGeom>
          <a:noFill/>
          <a:ln/>
        </p:spPr>
        <p:txBody>
          <a:bodyPr wrap="square" lIns="0" tIns="0" rIns="0" bIns="0" rtlCol="0" anchor="ctr"/>
          <a:lstStyle/>
          <a:p>
            <a:pPr marL="0" indent="0">
              <a:buNone/>
            </a:pPr>
            <a:r>
              <a:rPr lang="en-US" sz="1100" i="1" dirty="0">
                <a:solidFill>
                  <a:srgbClr val="FFFFFF"/>
                </a:solidFill>
                <a:latin typeface="Arial" pitchFamily="34" charset="0"/>
                <a:ea typeface="Arial" pitchFamily="34" charset="-122"/>
                <a:cs typeface="Arial" pitchFamily="34" charset="-120"/>
              </a:rPr>
              <a:t>Use for: One-off tasks, ad hoc checks, throwaway analysis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ECE1"/>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F3338"/>
          </a:solidFill>
          <a:ln/>
        </p:spPr>
        <p:txBody>
          <a:bodyPr/>
          <a:lstStyle/>
          <a:p>
            <a:endParaRPr lang="en-US"/>
          </a:p>
        </p:txBody>
      </p:sp>
      <p:sp>
        <p:nvSpPr>
          <p:cNvPr id="3" name="Text 1"/>
          <p:cNvSpPr/>
          <p:nvPr/>
        </p:nvSpPr>
        <p:spPr>
          <a:xfrm>
            <a:off x="640080" y="274320"/>
            <a:ext cx="8229600" cy="548640"/>
          </a:xfrm>
          <a:prstGeom prst="rect">
            <a:avLst/>
          </a:prstGeom>
          <a:noFill/>
          <a:ln/>
        </p:spPr>
        <p:txBody>
          <a:bodyPr wrap="square" lIns="0" tIns="0" rIns="0" bIns="0" rtlCol="0" anchor="ctr"/>
          <a:lstStyle/>
          <a:p>
            <a:pPr marL="0" indent="0">
              <a:buNone/>
            </a:pPr>
            <a:r>
              <a:rPr lang="en-US" sz="2800" b="1" dirty="0">
                <a:solidFill>
                  <a:srgbClr val="CF3338"/>
                </a:solidFill>
                <a:latin typeface="Arial Black" pitchFamily="34" charset="0"/>
                <a:ea typeface="Arial Black" pitchFamily="34" charset="-122"/>
                <a:cs typeface="Arial Black" pitchFamily="34" charset="-120"/>
              </a:rPr>
              <a:t>The Elephant in the Room</a:t>
            </a:r>
            <a:endParaRPr lang="en-US" sz="2800" dirty="0"/>
          </a:p>
        </p:txBody>
      </p:sp>
      <p:sp>
        <p:nvSpPr>
          <p:cNvPr id="4" name="Text 2"/>
          <p:cNvSpPr/>
          <p:nvPr/>
        </p:nvSpPr>
        <p:spPr>
          <a:xfrm>
            <a:off x="640080" y="777240"/>
            <a:ext cx="7315200" cy="274320"/>
          </a:xfrm>
          <a:prstGeom prst="rect">
            <a:avLst/>
          </a:prstGeom>
          <a:noFill/>
          <a:ln/>
        </p:spPr>
        <p:txBody>
          <a:bodyPr wrap="square" lIns="0" tIns="0" rIns="0" bIns="0" rtlCol="0" anchor="ctr"/>
          <a:lstStyle/>
          <a:p>
            <a:pPr marL="0" indent="0">
              <a:buNone/>
            </a:pPr>
            <a:r>
              <a:rPr lang="en-US" sz="1300" dirty="0">
                <a:solidFill>
                  <a:srgbClr val="707070"/>
                </a:solidFill>
                <a:latin typeface="Arial" pitchFamily="34" charset="0"/>
                <a:ea typeface="Arial" pitchFamily="34" charset="-122"/>
                <a:cs typeface="Arial" pitchFamily="34" charset="-120"/>
              </a:rPr>
              <a:t>Hallucinations, security, and what you can actually do about them</a:t>
            </a:r>
            <a:endParaRPr lang="en-US" sz="1300" dirty="0"/>
          </a:p>
        </p:txBody>
      </p:sp>
      <p:sp>
        <p:nvSpPr>
          <p:cNvPr id="5" name="Shape 3"/>
          <p:cNvSpPr/>
          <p:nvPr/>
        </p:nvSpPr>
        <p:spPr>
          <a:xfrm>
            <a:off x="640080" y="1280160"/>
            <a:ext cx="3794760" cy="3383280"/>
          </a:xfrm>
          <a:prstGeom prst="rect">
            <a:avLst/>
          </a:prstGeom>
          <a:solidFill>
            <a:srgbClr val="2B6B7F"/>
          </a:solidFill>
          <a:ln/>
        </p:spPr>
        <p:txBody>
          <a:bodyPr/>
          <a:lstStyle/>
          <a:p>
            <a:endParaRPr lang="en-US"/>
          </a:p>
        </p:txBody>
      </p:sp>
      <p:sp>
        <p:nvSpPr>
          <p:cNvPr id="6" name="Text 4"/>
          <p:cNvSpPr/>
          <p:nvPr/>
        </p:nvSpPr>
        <p:spPr>
          <a:xfrm>
            <a:off x="868680" y="1417320"/>
            <a:ext cx="3383280" cy="411480"/>
          </a:xfrm>
          <a:prstGeom prst="rect">
            <a:avLst/>
          </a:prstGeom>
          <a:noFill/>
          <a:ln/>
        </p:spPr>
        <p:txBody>
          <a:bodyPr wrap="square" lIns="0" tIns="0" rIns="0" bIns="0" rtlCol="0" anchor="ctr"/>
          <a:lstStyle/>
          <a:p>
            <a:pPr marL="0" indent="0">
              <a:buNone/>
            </a:pPr>
            <a:r>
              <a:rPr lang="en-US" sz="1800" b="1" dirty="0">
                <a:solidFill>
                  <a:srgbClr val="FFFFFF"/>
                </a:solidFill>
                <a:latin typeface="Arial Black" pitchFamily="34" charset="0"/>
                <a:ea typeface="Arial Black" pitchFamily="34" charset="-122"/>
                <a:cs typeface="Arial Black" pitchFamily="34" charset="-120"/>
              </a:rPr>
              <a:t>Hallucinations</a:t>
            </a:r>
            <a:endParaRPr lang="en-US" sz="1800" dirty="0"/>
          </a:p>
        </p:txBody>
      </p:sp>
      <p:sp>
        <p:nvSpPr>
          <p:cNvPr id="7" name="Text 5"/>
          <p:cNvSpPr/>
          <p:nvPr/>
        </p:nvSpPr>
        <p:spPr>
          <a:xfrm>
            <a:off x="868680" y="1965960"/>
            <a:ext cx="3337560" cy="594360"/>
          </a:xfrm>
          <a:prstGeom prst="rect">
            <a:avLst/>
          </a:prstGeom>
          <a:noFill/>
          <a:ln/>
        </p:spPr>
        <p:txBody>
          <a:bodyPr wrap="square" lIns="0" tIns="0" rIns="0" bIns="0" rtlCol="0" anchor="t"/>
          <a:lstStyle/>
          <a:p>
            <a:pPr marL="0" indent="0">
              <a:buNone/>
            </a:pPr>
            <a:r>
              <a:rPr lang="en-US" sz="1200" dirty="0">
                <a:solidFill>
                  <a:srgbClr val="FFFFFF"/>
                </a:solidFill>
              </a:rPr>
              <a:t>•  </a:t>
            </a:r>
            <a:r>
              <a:rPr lang="en-US" sz="1200" dirty="0">
                <a:solidFill>
                  <a:srgbClr val="FFFFFF"/>
                </a:solidFill>
                <a:latin typeface="Arial" pitchFamily="34" charset="0"/>
                <a:ea typeface="Arial" pitchFamily="34" charset="-122"/>
                <a:cs typeface="Arial" pitchFamily="34" charset="-120"/>
              </a:rPr>
              <a:t>AI can generate confident-sounding wrong answers</a:t>
            </a:r>
            <a:endParaRPr lang="en-US" sz="1200" dirty="0"/>
          </a:p>
        </p:txBody>
      </p:sp>
      <p:sp>
        <p:nvSpPr>
          <p:cNvPr id="8" name="Text 6"/>
          <p:cNvSpPr/>
          <p:nvPr/>
        </p:nvSpPr>
        <p:spPr>
          <a:xfrm>
            <a:off x="868680" y="2606040"/>
            <a:ext cx="3337560" cy="594360"/>
          </a:xfrm>
          <a:prstGeom prst="rect">
            <a:avLst/>
          </a:prstGeom>
          <a:noFill/>
          <a:ln/>
        </p:spPr>
        <p:txBody>
          <a:bodyPr wrap="square" lIns="0" tIns="0" rIns="0" bIns="0" rtlCol="0" anchor="t"/>
          <a:lstStyle/>
          <a:p>
            <a:pPr marL="0" indent="0">
              <a:buNone/>
            </a:pPr>
            <a:r>
              <a:rPr lang="en-US" sz="1200" dirty="0">
                <a:solidFill>
                  <a:srgbClr val="FFFFFF"/>
                </a:solidFill>
              </a:rPr>
              <a:t>•  </a:t>
            </a:r>
            <a:r>
              <a:rPr lang="en-US" sz="1200" dirty="0">
                <a:solidFill>
                  <a:srgbClr val="FFFFFF"/>
                </a:solidFill>
                <a:latin typeface="Arial" pitchFamily="34" charset="0"/>
                <a:ea typeface="Arial" pitchFamily="34" charset="-122"/>
                <a:cs typeface="Arial" pitchFamily="34" charset="-120"/>
              </a:rPr>
              <a:t>Mitigation: always verify formulas and outputs against source data</a:t>
            </a:r>
            <a:endParaRPr lang="en-US" sz="1200" dirty="0"/>
          </a:p>
        </p:txBody>
      </p:sp>
      <p:sp>
        <p:nvSpPr>
          <p:cNvPr id="9" name="Text 7"/>
          <p:cNvSpPr/>
          <p:nvPr/>
        </p:nvSpPr>
        <p:spPr>
          <a:xfrm>
            <a:off x="868680" y="3246120"/>
            <a:ext cx="3337560" cy="594360"/>
          </a:xfrm>
          <a:prstGeom prst="rect">
            <a:avLst/>
          </a:prstGeom>
          <a:noFill/>
          <a:ln/>
        </p:spPr>
        <p:txBody>
          <a:bodyPr wrap="square" lIns="0" tIns="0" rIns="0" bIns="0" rtlCol="0" anchor="t"/>
          <a:lstStyle/>
          <a:p>
            <a:pPr marL="0" indent="0">
              <a:buNone/>
            </a:pPr>
            <a:r>
              <a:rPr lang="en-US" sz="1200" dirty="0">
                <a:solidFill>
                  <a:srgbClr val="FFFFFF"/>
                </a:solidFill>
              </a:rPr>
              <a:t>•  </a:t>
            </a:r>
            <a:r>
              <a:rPr lang="en-US" sz="1200" dirty="0">
                <a:solidFill>
                  <a:srgbClr val="FFFFFF"/>
                </a:solidFill>
                <a:latin typeface="Arial" pitchFamily="34" charset="0"/>
                <a:ea typeface="Arial" pitchFamily="34" charset="-122"/>
                <a:cs typeface="Arial" pitchFamily="34" charset="-120"/>
              </a:rPr>
              <a:t>Use AI for drafts, not final answers</a:t>
            </a:r>
            <a:endParaRPr lang="en-US" sz="1200" dirty="0"/>
          </a:p>
        </p:txBody>
      </p:sp>
      <p:sp>
        <p:nvSpPr>
          <p:cNvPr id="10" name="Text 8"/>
          <p:cNvSpPr/>
          <p:nvPr/>
        </p:nvSpPr>
        <p:spPr>
          <a:xfrm>
            <a:off x="868680" y="3886200"/>
            <a:ext cx="3337560" cy="594360"/>
          </a:xfrm>
          <a:prstGeom prst="rect">
            <a:avLst/>
          </a:prstGeom>
          <a:noFill/>
          <a:ln/>
        </p:spPr>
        <p:txBody>
          <a:bodyPr wrap="square" lIns="0" tIns="0" rIns="0" bIns="0" rtlCol="0" anchor="t"/>
          <a:lstStyle/>
          <a:p>
            <a:pPr marL="0" indent="0">
              <a:buNone/>
            </a:pPr>
            <a:r>
              <a:rPr lang="en-US" sz="1200" dirty="0">
                <a:solidFill>
                  <a:srgbClr val="FFFFFF"/>
                </a:solidFill>
              </a:rPr>
              <a:t>•  </a:t>
            </a:r>
            <a:r>
              <a:rPr lang="en-US" sz="1200" dirty="0">
                <a:solidFill>
                  <a:srgbClr val="FFFFFF"/>
                </a:solidFill>
                <a:latin typeface="Arial" pitchFamily="34" charset="0"/>
                <a:ea typeface="Arial" pitchFamily="34" charset="-122"/>
                <a:cs typeface="Arial" pitchFamily="34" charset="-120"/>
              </a:rPr>
              <a:t>Human-in-the-loop is non-negotiable for anything that matters</a:t>
            </a:r>
            <a:endParaRPr lang="en-US" sz="1200" dirty="0"/>
          </a:p>
        </p:txBody>
      </p:sp>
      <p:sp>
        <p:nvSpPr>
          <p:cNvPr id="11" name="Shape 9"/>
          <p:cNvSpPr/>
          <p:nvPr/>
        </p:nvSpPr>
        <p:spPr>
          <a:xfrm>
            <a:off x="4709160" y="1280160"/>
            <a:ext cx="3794760" cy="3383280"/>
          </a:xfrm>
          <a:prstGeom prst="rect">
            <a:avLst/>
          </a:prstGeom>
          <a:solidFill>
            <a:srgbClr val="1E4D5C"/>
          </a:solidFill>
          <a:ln/>
        </p:spPr>
        <p:txBody>
          <a:bodyPr/>
          <a:lstStyle/>
          <a:p>
            <a:endParaRPr lang="en-US"/>
          </a:p>
        </p:txBody>
      </p:sp>
      <p:sp>
        <p:nvSpPr>
          <p:cNvPr id="12" name="Text 10"/>
          <p:cNvSpPr/>
          <p:nvPr/>
        </p:nvSpPr>
        <p:spPr>
          <a:xfrm>
            <a:off x="4937760" y="1417320"/>
            <a:ext cx="3383280" cy="411480"/>
          </a:xfrm>
          <a:prstGeom prst="rect">
            <a:avLst/>
          </a:prstGeom>
          <a:noFill/>
          <a:ln/>
        </p:spPr>
        <p:txBody>
          <a:bodyPr wrap="square" lIns="0" tIns="0" rIns="0" bIns="0" rtlCol="0" anchor="ctr"/>
          <a:lstStyle/>
          <a:p>
            <a:pPr marL="0" indent="0">
              <a:buNone/>
            </a:pPr>
            <a:r>
              <a:rPr lang="en-US" sz="1800" b="1" dirty="0">
                <a:solidFill>
                  <a:srgbClr val="FFFFFF"/>
                </a:solidFill>
                <a:latin typeface="Arial Black" pitchFamily="34" charset="0"/>
                <a:ea typeface="Arial Black" pitchFamily="34" charset="-122"/>
                <a:cs typeface="Arial Black" pitchFamily="34" charset="-120"/>
              </a:rPr>
              <a:t>Security &amp; Privacy</a:t>
            </a:r>
            <a:endParaRPr lang="en-US" sz="1800" dirty="0"/>
          </a:p>
        </p:txBody>
      </p:sp>
      <p:sp>
        <p:nvSpPr>
          <p:cNvPr id="13" name="Text 11"/>
          <p:cNvSpPr/>
          <p:nvPr/>
        </p:nvSpPr>
        <p:spPr>
          <a:xfrm>
            <a:off x="4937760" y="1965960"/>
            <a:ext cx="3337560" cy="594360"/>
          </a:xfrm>
          <a:prstGeom prst="rect">
            <a:avLst/>
          </a:prstGeom>
          <a:noFill/>
          <a:ln/>
        </p:spPr>
        <p:txBody>
          <a:bodyPr wrap="square" lIns="0" tIns="0" rIns="0" bIns="0" rtlCol="0" anchor="t"/>
          <a:lstStyle/>
          <a:p>
            <a:pPr marL="0" indent="0">
              <a:buNone/>
            </a:pPr>
            <a:r>
              <a:rPr lang="en-US" sz="1200" dirty="0">
                <a:solidFill>
                  <a:srgbClr val="FFFFFF"/>
                </a:solidFill>
              </a:rPr>
              <a:t>•  </a:t>
            </a:r>
            <a:r>
              <a:rPr lang="en-US" sz="1200" dirty="0">
                <a:solidFill>
                  <a:srgbClr val="FFFFFF"/>
                </a:solidFill>
                <a:latin typeface="Arial" pitchFamily="34" charset="0"/>
                <a:ea typeface="Arial" pitchFamily="34" charset="-122"/>
                <a:cs typeface="Arial" pitchFamily="34" charset="-120"/>
              </a:rPr>
              <a:t>M365 Copilot data stays within your tenant boundary</a:t>
            </a:r>
            <a:endParaRPr lang="en-US" sz="1200" dirty="0"/>
          </a:p>
        </p:txBody>
      </p:sp>
      <p:sp>
        <p:nvSpPr>
          <p:cNvPr id="14" name="Text 12"/>
          <p:cNvSpPr/>
          <p:nvPr/>
        </p:nvSpPr>
        <p:spPr>
          <a:xfrm>
            <a:off x="4937760" y="2606040"/>
            <a:ext cx="3337560" cy="594360"/>
          </a:xfrm>
          <a:prstGeom prst="rect">
            <a:avLst/>
          </a:prstGeom>
          <a:noFill/>
          <a:ln/>
        </p:spPr>
        <p:txBody>
          <a:bodyPr wrap="square" lIns="0" tIns="0" rIns="0" bIns="0" rtlCol="0" anchor="t"/>
          <a:lstStyle/>
          <a:p>
            <a:pPr marL="0" indent="0">
              <a:buNone/>
            </a:pPr>
            <a:r>
              <a:rPr lang="en-US" sz="1200" dirty="0">
                <a:solidFill>
                  <a:srgbClr val="FFFFFF"/>
                </a:solidFill>
              </a:rPr>
              <a:t>•  </a:t>
            </a:r>
            <a:r>
              <a:rPr lang="en-US" sz="1200" dirty="0">
                <a:solidFill>
                  <a:srgbClr val="FFFFFF"/>
                </a:solidFill>
                <a:latin typeface="Arial" pitchFamily="34" charset="0"/>
                <a:ea typeface="Arial" pitchFamily="34" charset="-122"/>
                <a:cs typeface="Arial" pitchFamily="34" charset="-120"/>
              </a:rPr>
              <a:t>Same compliance perimeter as SharePoint and OneDrive</a:t>
            </a:r>
            <a:endParaRPr lang="en-US" sz="1200" dirty="0"/>
          </a:p>
        </p:txBody>
      </p:sp>
      <p:sp>
        <p:nvSpPr>
          <p:cNvPr id="15" name="Text 13"/>
          <p:cNvSpPr/>
          <p:nvPr/>
        </p:nvSpPr>
        <p:spPr>
          <a:xfrm>
            <a:off x="4937760" y="3246120"/>
            <a:ext cx="3337560" cy="594360"/>
          </a:xfrm>
          <a:prstGeom prst="rect">
            <a:avLst/>
          </a:prstGeom>
          <a:noFill/>
          <a:ln/>
        </p:spPr>
        <p:txBody>
          <a:bodyPr wrap="square" lIns="0" tIns="0" rIns="0" bIns="0" rtlCol="0" anchor="t"/>
          <a:lstStyle/>
          <a:p>
            <a:pPr marL="0" indent="0">
              <a:buNone/>
            </a:pPr>
            <a:r>
              <a:rPr lang="en-US" sz="1200" dirty="0">
                <a:solidFill>
                  <a:srgbClr val="FFFFFF"/>
                </a:solidFill>
              </a:rPr>
              <a:t>•  </a:t>
            </a:r>
            <a:r>
              <a:rPr lang="en-US" sz="1200" dirty="0">
                <a:solidFill>
                  <a:srgbClr val="FFFFFF"/>
                </a:solidFill>
                <a:latin typeface="Arial" pitchFamily="34" charset="0"/>
                <a:ea typeface="Arial" pitchFamily="34" charset="-122"/>
                <a:cs typeface="Arial" pitchFamily="34" charset="-120"/>
              </a:rPr>
              <a:t>Cloud-based ML has been in Excel for years (Ideas, stock data types)</a:t>
            </a:r>
            <a:endParaRPr lang="en-US" sz="1200" dirty="0"/>
          </a:p>
        </p:txBody>
      </p:sp>
      <p:sp>
        <p:nvSpPr>
          <p:cNvPr id="16" name="Text 14"/>
          <p:cNvSpPr/>
          <p:nvPr/>
        </p:nvSpPr>
        <p:spPr>
          <a:xfrm>
            <a:off x="4937760" y="3886200"/>
            <a:ext cx="3337560" cy="594360"/>
          </a:xfrm>
          <a:prstGeom prst="rect">
            <a:avLst/>
          </a:prstGeom>
          <a:noFill/>
          <a:ln/>
        </p:spPr>
        <p:txBody>
          <a:bodyPr wrap="square" lIns="0" tIns="0" rIns="0" bIns="0" rtlCol="0" anchor="t"/>
          <a:lstStyle/>
          <a:p>
            <a:pPr marL="0" indent="0">
              <a:buNone/>
            </a:pPr>
            <a:r>
              <a:rPr lang="en-US" sz="1200" dirty="0">
                <a:solidFill>
                  <a:srgbClr val="FFFFFF"/>
                </a:solidFill>
              </a:rPr>
              <a:t>•  </a:t>
            </a:r>
            <a:r>
              <a:rPr lang="en-US" sz="1200" dirty="0">
                <a:solidFill>
                  <a:srgbClr val="FFFFFF"/>
                </a:solidFill>
                <a:latin typeface="Arial" pitchFamily="34" charset="0"/>
                <a:ea typeface="Arial" pitchFamily="34" charset="-122"/>
                <a:cs typeface="Arial" pitchFamily="34" charset="-120"/>
              </a:rPr>
              <a:t>Not a new risk…  an evolution of risk you already manage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ECE1"/>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F3338"/>
          </a:solidFill>
          <a:ln/>
        </p:spPr>
        <p:txBody>
          <a:bodyPr/>
          <a:lstStyle/>
          <a:p>
            <a:endParaRPr lang="en-US"/>
          </a:p>
        </p:txBody>
      </p:sp>
      <p:sp>
        <p:nvSpPr>
          <p:cNvPr id="3" name="Text 1"/>
          <p:cNvSpPr/>
          <p:nvPr/>
        </p:nvSpPr>
        <p:spPr>
          <a:xfrm>
            <a:off x="640080" y="274320"/>
            <a:ext cx="8229600" cy="502920"/>
          </a:xfrm>
          <a:prstGeom prst="rect">
            <a:avLst/>
          </a:prstGeom>
          <a:noFill/>
          <a:ln/>
        </p:spPr>
        <p:txBody>
          <a:bodyPr wrap="square" lIns="0" tIns="0" rIns="0" bIns="0" rtlCol="0" anchor="ctr"/>
          <a:lstStyle/>
          <a:p>
            <a:pPr marL="0" indent="0">
              <a:buNone/>
            </a:pPr>
            <a:r>
              <a:rPr lang="en-US" sz="2600" b="1" dirty="0">
                <a:solidFill>
                  <a:srgbClr val="1F2120"/>
                </a:solidFill>
                <a:latin typeface="Arial Black" pitchFamily="34" charset="0"/>
                <a:ea typeface="Arial Black" pitchFamily="34" charset="-122"/>
                <a:cs typeface="Arial Black" pitchFamily="34" charset="-120"/>
              </a:rPr>
              <a:t>A quick note on AI tools</a:t>
            </a:r>
            <a:endParaRPr lang="en-US" sz="2600" dirty="0"/>
          </a:p>
        </p:txBody>
      </p:sp>
      <p:sp>
        <p:nvSpPr>
          <p:cNvPr id="4" name="Text 2"/>
          <p:cNvSpPr/>
          <p:nvPr/>
        </p:nvSpPr>
        <p:spPr>
          <a:xfrm>
            <a:off x="640080" y="731520"/>
            <a:ext cx="8229600" cy="274320"/>
          </a:xfrm>
          <a:prstGeom prst="rect">
            <a:avLst/>
          </a:prstGeom>
          <a:noFill/>
          <a:ln/>
        </p:spPr>
        <p:txBody>
          <a:bodyPr wrap="square" lIns="0" tIns="0" rIns="0" bIns="0" rtlCol="0" anchor="ctr"/>
          <a:lstStyle/>
          <a:p>
            <a:pPr marL="0" indent="0">
              <a:buNone/>
            </a:pPr>
            <a:r>
              <a:rPr lang="en-US" sz="1300" i="1" dirty="0">
                <a:solidFill>
                  <a:srgbClr val="707070"/>
                </a:solidFill>
                <a:latin typeface="Arial" pitchFamily="34" charset="0"/>
                <a:ea typeface="Arial" pitchFamily="34" charset="-122"/>
                <a:cs typeface="Arial" pitchFamily="34" charset="-120"/>
              </a:rPr>
              <a:t>This is why the demos use Microsoft tools.</a:t>
            </a:r>
            <a:endParaRPr lang="en-US" sz="1300" dirty="0"/>
          </a:p>
        </p:txBody>
      </p:sp>
      <p:sp>
        <p:nvSpPr>
          <p:cNvPr id="5" name="Shape 3"/>
          <p:cNvSpPr/>
          <p:nvPr/>
        </p:nvSpPr>
        <p:spPr>
          <a:xfrm>
            <a:off x="640080" y="1188720"/>
            <a:ext cx="2606040" cy="2834640"/>
          </a:xfrm>
          <a:prstGeom prst="rect">
            <a:avLst/>
          </a:prstGeom>
          <a:solidFill>
            <a:srgbClr val="2B6B7F"/>
          </a:solidFill>
          <a:ln/>
        </p:spPr>
        <p:txBody>
          <a:bodyPr/>
          <a:lstStyle/>
          <a:p>
            <a:endParaRPr lang="en-US"/>
          </a:p>
        </p:txBody>
      </p:sp>
      <p:sp>
        <p:nvSpPr>
          <p:cNvPr id="6" name="Shape 4"/>
          <p:cNvSpPr/>
          <p:nvPr/>
        </p:nvSpPr>
        <p:spPr>
          <a:xfrm>
            <a:off x="640080" y="1188720"/>
            <a:ext cx="2606040" cy="54864"/>
          </a:xfrm>
          <a:prstGeom prst="rect">
            <a:avLst/>
          </a:prstGeom>
          <a:solidFill>
            <a:srgbClr val="CF3338"/>
          </a:solidFill>
          <a:ln/>
        </p:spPr>
        <p:txBody>
          <a:bodyPr/>
          <a:lstStyle/>
          <a:p>
            <a:endParaRPr lang="en-US"/>
          </a:p>
        </p:txBody>
      </p:sp>
      <p:sp>
        <p:nvSpPr>
          <p:cNvPr id="7" name="Text 5"/>
          <p:cNvSpPr/>
          <p:nvPr/>
        </p:nvSpPr>
        <p:spPr>
          <a:xfrm>
            <a:off x="868680" y="1417320"/>
            <a:ext cx="2148840" cy="411480"/>
          </a:xfrm>
          <a:prstGeom prst="rect">
            <a:avLst/>
          </a:prstGeom>
          <a:noFill/>
          <a:ln/>
        </p:spPr>
        <p:txBody>
          <a:bodyPr wrap="square" lIns="0" tIns="0" rIns="0" bIns="0" rtlCol="0" anchor="ctr"/>
          <a:lstStyle/>
          <a:p>
            <a:pPr marL="0" indent="0">
              <a:buNone/>
            </a:pPr>
            <a:r>
              <a:rPr lang="en-US" sz="1700" b="1" dirty="0">
                <a:solidFill>
                  <a:srgbClr val="FFFFFF"/>
                </a:solidFill>
                <a:latin typeface="Arial Black" pitchFamily="34" charset="0"/>
                <a:ea typeface="Arial Black" pitchFamily="34" charset="-122"/>
                <a:cs typeface="Arial Black" pitchFamily="34" charset="-120"/>
              </a:rPr>
              <a:t>M365 Copilot</a:t>
            </a:r>
            <a:endParaRPr lang="en-US" sz="1700" dirty="0"/>
          </a:p>
        </p:txBody>
      </p:sp>
      <p:sp>
        <p:nvSpPr>
          <p:cNvPr id="8" name="Text 6"/>
          <p:cNvSpPr/>
          <p:nvPr/>
        </p:nvSpPr>
        <p:spPr>
          <a:xfrm>
            <a:off x="868680" y="1920240"/>
            <a:ext cx="2148840" cy="1371600"/>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Lives inside Excel. Respects your tenant boundary. Best starting point for most of you; it’s the Microsoft tool.</a:t>
            </a:r>
            <a:endParaRPr lang="en-US" sz="1300" dirty="0"/>
          </a:p>
        </p:txBody>
      </p:sp>
      <p:sp>
        <p:nvSpPr>
          <p:cNvPr id="9" name="Text 7"/>
          <p:cNvSpPr/>
          <p:nvPr/>
        </p:nvSpPr>
        <p:spPr>
          <a:xfrm>
            <a:off x="868680" y="3337560"/>
            <a:ext cx="2148840" cy="320040"/>
          </a:xfrm>
          <a:prstGeom prst="rect">
            <a:avLst/>
          </a:prstGeom>
          <a:noFill/>
          <a:ln/>
        </p:spPr>
        <p:txBody>
          <a:bodyPr wrap="square" lIns="0" tIns="0" rIns="0" bIns="0" rtlCol="0" anchor="ctr"/>
          <a:lstStyle/>
          <a:p>
            <a:pPr marL="0" indent="0">
              <a:buNone/>
            </a:pPr>
            <a:r>
              <a:rPr lang="en-US" sz="1000" b="1" i="1" dirty="0">
                <a:solidFill>
                  <a:srgbClr val="FFFFFF"/>
                </a:solidFill>
                <a:latin typeface="Arial Black" pitchFamily="34" charset="0"/>
                <a:ea typeface="Arial Black" pitchFamily="34" charset="-122"/>
                <a:cs typeface="Arial Black" pitchFamily="34" charset="-120"/>
              </a:rPr>
              <a:t>Recommended starting point</a:t>
            </a:r>
            <a:endParaRPr lang="en-US" sz="1000" dirty="0"/>
          </a:p>
        </p:txBody>
      </p:sp>
      <p:sp>
        <p:nvSpPr>
          <p:cNvPr id="10" name="Shape 8"/>
          <p:cNvSpPr/>
          <p:nvPr/>
        </p:nvSpPr>
        <p:spPr>
          <a:xfrm>
            <a:off x="3474720" y="1188720"/>
            <a:ext cx="2606040" cy="2834640"/>
          </a:xfrm>
          <a:prstGeom prst="rect">
            <a:avLst/>
          </a:prstGeom>
          <a:solidFill>
            <a:srgbClr val="FFFFFF"/>
          </a:solidFill>
          <a:ln w="12700">
            <a:solidFill>
              <a:srgbClr val="D0D0D0"/>
            </a:solidFill>
            <a:prstDash val="solid"/>
          </a:ln>
        </p:spPr>
        <p:txBody>
          <a:bodyPr/>
          <a:lstStyle/>
          <a:p>
            <a:endParaRPr lang="en-US"/>
          </a:p>
        </p:txBody>
      </p:sp>
      <p:sp>
        <p:nvSpPr>
          <p:cNvPr id="11" name="Shape 9"/>
          <p:cNvSpPr/>
          <p:nvPr/>
        </p:nvSpPr>
        <p:spPr>
          <a:xfrm>
            <a:off x="3474720" y="1188720"/>
            <a:ext cx="2606040" cy="54864"/>
          </a:xfrm>
          <a:prstGeom prst="rect">
            <a:avLst/>
          </a:prstGeom>
          <a:solidFill>
            <a:srgbClr val="CF3338"/>
          </a:solidFill>
          <a:ln/>
        </p:spPr>
        <p:txBody>
          <a:bodyPr/>
          <a:lstStyle/>
          <a:p>
            <a:endParaRPr lang="en-US"/>
          </a:p>
        </p:txBody>
      </p:sp>
      <p:sp>
        <p:nvSpPr>
          <p:cNvPr id="12" name="Text 10"/>
          <p:cNvSpPr/>
          <p:nvPr/>
        </p:nvSpPr>
        <p:spPr>
          <a:xfrm>
            <a:off x="3703320" y="1417320"/>
            <a:ext cx="2148840" cy="411480"/>
          </a:xfrm>
          <a:prstGeom prst="rect">
            <a:avLst/>
          </a:prstGeom>
          <a:noFill/>
          <a:ln/>
        </p:spPr>
        <p:txBody>
          <a:bodyPr wrap="square" lIns="0" tIns="0" rIns="0" bIns="0" rtlCol="0" anchor="ctr"/>
          <a:lstStyle/>
          <a:p>
            <a:pPr marL="0" indent="0">
              <a:buNone/>
            </a:pPr>
            <a:r>
              <a:rPr lang="en-US" sz="1700" b="1" dirty="0">
                <a:solidFill>
                  <a:srgbClr val="1F2120"/>
                </a:solidFill>
                <a:latin typeface="Arial Black" pitchFamily="34" charset="0"/>
                <a:ea typeface="Arial Black" pitchFamily="34" charset="-122"/>
                <a:cs typeface="Arial Black" pitchFamily="34" charset="-120"/>
              </a:rPr>
              <a:t>ChatGPT</a:t>
            </a:r>
            <a:endParaRPr lang="en-US" sz="1700" dirty="0"/>
          </a:p>
        </p:txBody>
      </p:sp>
      <p:sp>
        <p:nvSpPr>
          <p:cNvPr id="13" name="Text 11"/>
          <p:cNvSpPr/>
          <p:nvPr/>
        </p:nvSpPr>
        <p:spPr>
          <a:xfrm>
            <a:off x="3703320" y="1920240"/>
            <a:ext cx="2148840" cy="1371600"/>
          </a:xfrm>
          <a:prstGeom prst="rect">
            <a:avLst/>
          </a:prstGeom>
          <a:noFill/>
          <a:ln/>
        </p:spPr>
        <p:txBody>
          <a:bodyPr wrap="square" lIns="0" tIns="0" rIns="0" bIns="0" rtlCol="0" anchor="ctr"/>
          <a:lstStyle/>
          <a:p>
            <a:pPr marL="0" indent="0">
              <a:buNone/>
            </a:pPr>
            <a:r>
              <a:rPr lang="en-US" sz="1300" dirty="0">
                <a:solidFill>
                  <a:srgbClr val="707070"/>
                </a:solidFill>
                <a:latin typeface="Arial" pitchFamily="34" charset="0"/>
                <a:ea typeface="Arial" pitchFamily="34" charset="-122"/>
                <a:cs typeface="Arial" pitchFamily="34" charset="-120"/>
              </a:rPr>
              <a:t>Great for general questions and learning. Data goes to OpenAI’s servers, check your org’s policy first.</a:t>
            </a:r>
            <a:endParaRPr lang="en-US" sz="1300" dirty="0"/>
          </a:p>
        </p:txBody>
      </p:sp>
      <p:sp>
        <p:nvSpPr>
          <p:cNvPr id="14" name="Shape 12"/>
          <p:cNvSpPr/>
          <p:nvPr/>
        </p:nvSpPr>
        <p:spPr>
          <a:xfrm>
            <a:off x="6309360" y="1188720"/>
            <a:ext cx="2606040" cy="2834640"/>
          </a:xfrm>
          <a:prstGeom prst="rect">
            <a:avLst/>
          </a:prstGeom>
          <a:solidFill>
            <a:srgbClr val="FFFFFF"/>
          </a:solidFill>
          <a:ln w="12700">
            <a:solidFill>
              <a:srgbClr val="D0D0D0"/>
            </a:solidFill>
            <a:prstDash val="solid"/>
          </a:ln>
        </p:spPr>
        <p:txBody>
          <a:bodyPr/>
          <a:lstStyle/>
          <a:p>
            <a:endParaRPr lang="en-US"/>
          </a:p>
        </p:txBody>
      </p:sp>
      <p:sp>
        <p:nvSpPr>
          <p:cNvPr id="15" name="Shape 13"/>
          <p:cNvSpPr/>
          <p:nvPr/>
        </p:nvSpPr>
        <p:spPr>
          <a:xfrm>
            <a:off x="6309360" y="1188720"/>
            <a:ext cx="2606040" cy="54864"/>
          </a:xfrm>
          <a:prstGeom prst="rect">
            <a:avLst/>
          </a:prstGeom>
          <a:solidFill>
            <a:srgbClr val="CF3338"/>
          </a:solidFill>
          <a:ln/>
        </p:spPr>
        <p:txBody>
          <a:bodyPr/>
          <a:lstStyle/>
          <a:p>
            <a:endParaRPr lang="en-US"/>
          </a:p>
        </p:txBody>
      </p:sp>
      <p:sp>
        <p:nvSpPr>
          <p:cNvPr id="16" name="Text 14"/>
          <p:cNvSpPr/>
          <p:nvPr/>
        </p:nvSpPr>
        <p:spPr>
          <a:xfrm>
            <a:off x="6537960" y="1417320"/>
            <a:ext cx="2148840" cy="411480"/>
          </a:xfrm>
          <a:prstGeom prst="rect">
            <a:avLst/>
          </a:prstGeom>
          <a:noFill/>
          <a:ln/>
        </p:spPr>
        <p:txBody>
          <a:bodyPr wrap="square" lIns="0" tIns="0" rIns="0" bIns="0" rtlCol="0" anchor="ctr"/>
          <a:lstStyle/>
          <a:p>
            <a:pPr marL="0" indent="0">
              <a:buNone/>
            </a:pPr>
            <a:r>
              <a:rPr lang="en-US" sz="1700" b="1" dirty="0">
                <a:solidFill>
                  <a:srgbClr val="1F2120"/>
                </a:solidFill>
                <a:latin typeface="Arial Black" pitchFamily="34" charset="0"/>
                <a:ea typeface="Arial Black" pitchFamily="34" charset="-122"/>
                <a:cs typeface="Arial Black" pitchFamily="34" charset="-120"/>
              </a:rPr>
              <a:t>Claude &amp; Others</a:t>
            </a:r>
            <a:endParaRPr lang="en-US" sz="1700" dirty="0"/>
          </a:p>
        </p:txBody>
      </p:sp>
      <p:sp>
        <p:nvSpPr>
          <p:cNvPr id="17" name="Text 15"/>
          <p:cNvSpPr/>
          <p:nvPr/>
        </p:nvSpPr>
        <p:spPr>
          <a:xfrm>
            <a:off x="6537960" y="1920240"/>
            <a:ext cx="2148840" cy="1371600"/>
          </a:xfrm>
          <a:prstGeom prst="rect">
            <a:avLst/>
          </a:prstGeom>
          <a:noFill/>
          <a:ln/>
        </p:spPr>
        <p:txBody>
          <a:bodyPr wrap="square" lIns="0" tIns="0" rIns="0" bIns="0" rtlCol="0" anchor="ctr"/>
          <a:lstStyle/>
          <a:p>
            <a:pPr marL="0" indent="0">
              <a:buNone/>
            </a:pPr>
            <a:r>
              <a:rPr lang="en-US" sz="1300" dirty="0">
                <a:solidFill>
                  <a:srgbClr val="707070"/>
                </a:solidFill>
                <a:latin typeface="Arial" pitchFamily="34" charset="0"/>
                <a:ea typeface="Arial" pitchFamily="34" charset="-122"/>
                <a:cs typeface="Arial" pitchFamily="34" charset="-120"/>
              </a:rPr>
              <a:t>Strong at reasoning and code. Claude can also work as an agent, reading files, writing docs, running code on your behalf.</a:t>
            </a:r>
            <a:endParaRPr lang="en-US" sz="1300" dirty="0"/>
          </a:p>
        </p:txBody>
      </p:sp>
      <p:sp>
        <p:nvSpPr>
          <p:cNvPr id="18" name="Shape 16"/>
          <p:cNvSpPr/>
          <p:nvPr/>
        </p:nvSpPr>
        <p:spPr>
          <a:xfrm>
            <a:off x="640080" y="4160520"/>
            <a:ext cx="7772400" cy="777240"/>
          </a:xfrm>
          <a:prstGeom prst="rect">
            <a:avLst/>
          </a:prstGeom>
          <a:solidFill>
            <a:srgbClr val="2B6B7F"/>
          </a:solidFill>
          <a:ln/>
        </p:spPr>
        <p:txBody>
          <a:bodyPr/>
          <a:lstStyle/>
          <a:p>
            <a:endParaRPr lang="en-US"/>
          </a:p>
        </p:txBody>
      </p:sp>
      <p:sp>
        <p:nvSpPr>
          <p:cNvPr id="19" name="Text 17"/>
          <p:cNvSpPr/>
          <p:nvPr/>
        </p:nvSpPr>
        <p:spPr>
          <a:xfrm>
            <a:off x="868680" y="4206240"/>
            <a:ext cx="7315200" cy="685800"/>
          </a:xfrm>
          <a:prstGeom prst="rect">
            <a:avLst/>
          </a:prstGeom>
          <a:noFill/>
          <a:ln/>
        </p:spPr>
        <p:txBody>
          <a:bodyPr wrap="square" lIns="0" tIns="0" rIns="0" bIns="0"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What’s an agent?  </a:t>
            </a:r>
            <a:r>
              <a:rPr lang="en-US" sz="1200" dirty="0">
                <a:solidFill>
                  <a:srgbClr val="FFFFFF"/>
                </a:solidFill>
                <a:latin typeface="Arial" pitchFamily="34" charset="0"/>
                <a:ea typeface="Arial" pitchFamily="34" charset="-122"/>
                <a:cs typeface="Arial" pitchFamily="34" charset="-120"/>
              </a:rPr>
              <a:t>An AI that takes multiple steps on its own — not just answering a question, but doing work.</a:t>
            </a:r>
            <a:endParaRPr lang="en-US" sz="1300" dirty="0"/>
          </a:p>
          <a:p>
            <a:pPr marL="0" indent="0">
              <a:buNone/>
            </a:pPr>
            <a:r>
              <a:rPr lang="en-US" sz="1200" dirty="0">
                <a:solidFill>
                  <a:srgbClr val="FFFFFF"/>
                </a:solidFill>
                <a:latin typeface="Arial" pitchFamily="34" charset="0"/>
                <a:ea typeface="Arial" pitchFamily="34" charset="-122"/>
                <a:cs typeface="Arial" pitchFamily="34" charset="-120"/>
              </a:rPr>
              <a:t>Edit with Copilot is a basic example: you give it a goal and it figures out the steps.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C00000"/>
        </a:solidFill>
        <a:effectLst/>
      </p:bgPr>
    </p:bg>
    <p:spTree>
      <p:nvGrpSpPr>
        <p:cNvPr id="1" name=""/>
        <p:cNvGrpSpPr/>
        <p:nvPr/>
      </p:nvGrpSpPr>
      <p:grpSpPr>
        <a:xfrm>
          <a:off x="0" y="0"/>
          <a:ext cx="0" cy="0"/>
          <a:chOff x="0" y="0"/>
          <a:chExt cx="0" cy="0"/>
        </a:xfrm>
      </p:grpSpPr>
      <p:sp>
        <p:nvSpPr>
          <p:cNvPr id="2" name="Text 0"/>
          <p:cNvSpPr/>
          <p:nvPr/>
        </p:nvSpPr>
        <p:spPr>
          <a:xfrm>
            <a:off x="457200" y="914400"/>
            <a:ext cx="8229600" cy="914400"/>
          </a:xfrm>
          <a:prstGeom prst="rect">
            <a:avLst/>
          </a:prstGeom>
          <a:noFill/>
          <a:ln/>
        </p:spPr>
        <p:txBody>
          <a:bodyPr wrap="square" lIns="0" tIns="0" rIns="0" bIns="0" rtlCol="0" anchor="ctr"/>
          <a:lstStyle/>
          <a:p>
            <a:pPr marL="0" indent="0" algn="ctr">
              <a:buNone/>
            </a:pPr>
            <a:r>
              <a:rPr lang="en-US" sz="3800" b="1" dirty="0">
                <a:solidFill>
                  <a:srgbClr val="FFFFFF"/>
                </a:solidFill>
                <a:latin typeface="Arial Black" pitchFamily="34" charset="0"/>
                <a:ea typeface="Arial Black" pitchFamily="34" charset="-122"/>
                <a:cs typeface="Arial Black" pitchFamily="34" charset="-120"/>
              </a:rPr>
              <a:t>Let’s see it in action</a:t>
            </a:r>
            <a:endParaRPr lang="en-US" sz="3800" dirty="0"/>
          </a:p>
        </p:txBody>
      </p:sp>
      <p:sp>
        <p:nvSpPr>
          <p:cNvPr id="3" name="Shape 1"/>
          <p:cNvSpPr/>
          <p:nvPr/>
        </p:nvSpPr>
        <p:spPr>
          <a:xfrm>
            <a:off x="914400" y="2377440"/>
            <a:ext cx="2194560" cy="1463040"/>
          </a:xfrm>
          <a:prstGeom prst="rect">
            <a:avLst/>
          </a:prstGeom>
          <a:solidFill>
            <a:srgbClr val="FFFFFF"/>
          </a:solidFill>
          <a:ln/>
        </p:spPr>
        <p:txBody>
          <a:bodyPr/>
          <a:lstStyle/>
          <a:p>
            <a:endParaRPr lang="en-US"/>
          </a:p>
        </p:txBody>
      </p:sp>
      <p:sp>
        <p:nvSpPr>
          <p:cNvPr id="4" name="Text 2"/>
          <p:cNvSpPr/>
          <p:nvPr/>
        </p:nvSpPr>
        <p:spPr>
          <a:xfrm>
            <a:off x="914400" y="2423160"/>
            <a:ext cx="2194560" cy="640080"/>
          </a:xfrm>
          <a:prstGeom prst="rect">
            <a:avLst/>
          </a:prstGeom>
          <a:noFill/>
          <a:ln/>
        </p:spPr>
        <p:txBody>
          <a:bodyPr wrap="square" lIns="0" tIns="0" rIns="0" bIns="0" rtlCol="0" anchor="ctr"/>
          <a:lstStyle/>
          <a:p>
            <a:pPr marL="0" indent="0" algn="ctr">
              <a:buNone/>
            </a:pPr>
            <a:r>
              <a:rPr lang="en-US" sz="3200" b="1" dirty="0">
                <a:solidFill>
                  <a:srgbClr val="CF3338"/>
                </a:solidFill>
                <a:latin typeface="Arial Black" pitchFamily="34" charset="0"/>
                <a:ea typeface="Arial Black" pitchFamily="34" charset="-122"/>
                <a:cs typeface="Arial Black" pitchFamily="34" charset="-120"/>
              </a:rPr>
              <a:t>1</a:t>
            </a:r>
            <a:endParaRPr lang="en-US" sz="3200" dirty="0"/>
          </a:p>
        </p:txBody>
      </p:sp>
      <p:sp>
        <p:nvSpPr>
          <p:cNvPr id="5" name="Text 3"/>
          <p:cNvSpPr/>
          <p:nvPr/>
        </p:nvSpPr>
        <p:spPr>
          <a:xfrm>
            <a:off x="914400" y="3063240"/>
            <a:ext cx="2194560" cy="548640"/>
          </a:xfrm>
          <a:prstGeom prst="rect">
            <a:avLst/>
          </a:prstGeom>
          <a:noFill/>
          <a:ln/>
        </p:spPr>
        <p:txBody>
          <a:bodyPr wrap="square" lIns="0" tIns="0" rIns="0" bIns="0" rtlCol="0" anchor="t"/>
          <a:lstStyle/>
          <a:p>
            <a:pPr marL="0" indent="0" algn="ctr">
              <a:buNone/>
            </a:pPr>
            <a:r>
              <a:rPr lang="en-US" sz="1500" b="1" dirty="0">
                <a:solidFill>
                  <a:srgbClr val="1F2120"/>
                </a:solidFill>
                <a:latin typeface="Arial Black" pitchFamily="34" charset="0"/>
                <a:ea typeface="Arial Black" pitchFamily="34" charset="-122"/>
                <a:cs typeface="Arial Black" pitchFamily="34" charset="-120"/>
              </a:rPr>
              <a:t>Power Query</a:t>
            </a:r>
            <a:endParaRPr lang="en-US" sz="1500" dirty="0"/>
          </a:p>
        </p:txBody>
      </p:sp>
      <p:sp>
        <p:nvSpPr>
          <p:cNvPr id="6" name="Shape 4"/>
          <p:cNvSpPr/>
          <p:nvPr/>
        </p:nvSpPr>
        <p:spPr>
          <a:xfrm>
            <a:off x="3520440" y="2377440"/>
            <a:ext cx="2194560" cy="1463040"/>
          </a:xfrm>
          <a:prstGeom prst="rect">
            <a:avLst/>
          </a:prstGeom>
          <a:solidFill>
            <a:srgbClr val="FFFFFF"/>
          </a:solidFill>
          <a:ln/>
        </p:spPr>
        <p:txBody>
          <a:bodyPr/>
          <a:lstStyle/>
          <a:p>
            <a:endParaRPr lang="en-US"/>
          </a:p>
        </p:txBody>
      </p:sp>
      <p:sp>
        <p:nvSpPr>
          <p:cNvPr id="7" name="Text 5"/>
          <p:cNvSpPr/>
          <p:nvPr/>
        </p:nvSpPr>
        <p:spPr>
          <a:xfrm>
            <a:off x="3520440" y="2423160"/>
            <a:ext cx="2194560" cy="640080"/>
          </a:xfrm>
          <a:prstGeom prst="rect">
            <a:avLst/>
          </a:prstGeom>
          <a:noFill/>
          <a:ln/>
        </p:spPr>
        <p:txBody>
          <a:bodyPr wrap="square" lIns="0" tIns="0" rIns="0" bIns="0" rtlCol="0" anchor="ctr"/>
          <a:lstStyle/>
          <a:p>
            <a:pPr marL="0" indent="0" algn="ctr">
              <a:buNone/>
            </a:pPr>
            <a:r>
              <a:rPr lang="en-US" sz="3200" b="1" dirty="0">
                <a:solidFill>
                  <a:srgbClr val="CF3338"/>
                </a:solidFill>
                <a:latin typeface="Arial Black" pitchFamily="34" charset="0"/>
                <a:ea typeface="Arial Black" pitchFamily="34" charset="-122"/>
                <a:cs typeface="Arial Black" pitchFamily="34" charset="-120"/>
              </a:rPr>
              <a:t>2</a:t>
            </a:r>
            <a:endParaRPr lang="en-US" sz="3200" dirty="0"/>
          </a:p>
        </p:txBody>
      </p:sp>
      <p:sp>
        <p:nvSpPr>
          <p:cNvPr id="8" name="Text 6"/>
          <p:cNvSpPr/>
          <p:nvPr/>
        </p:nvSpPr>
        <p:spPr>
          <a:xfrm>
            <a:off x="3520440" y="3063240"/>
            <a:ext cx="2194560" cy="548640"/>
          </a:xfrm>
          <a:prstGeom prst="rect">
            <a:avLst/>
          </a:prstGeom>
          <a:noFill/>
          <a:ln/>
        </p:spPr>
        <p:txBody>
          <a:bodyPr wrap="square" lIns="0" tIns="0" rIns="0" bIns="0" rtlCol="0" anchor="t"/>
          <a:lstStyle/>
          <a:p>
            <a:pPr marL="0" indent="0" algn="ctr">
              <a:buNone/>
            </a:pPr>
            <a:r>
              <a:rPr lang="en-US" sz="1500" b="1" dirty="0">
                <a:solidFill>
                  <a:srgbClr val="1F2120"/>
                </a:solidFill>
                <a:latin typeface="Arial Black" pitchFamily="34" charset="0"/>
                <a:ea typeface="Arial Black" pitchFamily="34" charset="-122"/>
                <a:cs typeface="Arial Black" pitchFamily="34" charset="-120"/>
              </a:rPr>
              <a:t>Copilot</a:t>
            </a:r>
            <a:endParaRPr lang="en-US" sz="1500" dirty="0"/>
          </a:p>
        </p:txBody>
      </p:sp>
      <p:sp>
        <p:nvSpPr>
          <p:cNvPr id="9" name="Shape 7"/>
          <p:cNvSpPr/>
          <p:nvPr/>
        </p:nvSpPr>
        <p:spPr>
          <a:xfrm>
            <a:off x="6126480" y="2377440"/>
            <a:ext cx="2194560" cy="1463040"/>
          </a:xfrm>
          <a:prstGeom prst="rect">
            <a:avLst/>
          </a:prstGeom>
          <a:solidFill>
            <a:srgbClr val="FFFFFF"/>
          </a:solidFill>
          <a:ln/>
        </p:spPr>
        <p:txBody>
          <a:bodyPr/>
          <a:lstStyle/>
          <a:p>
            <a:endParaRPr lang="en-US"/>
          </a:p>
        </p:txBody>
      </p:sp>
      <p:sp>
        <p:nvSpPr>
          <p:cNvPr id="10" name="Text 8"/>
          <p:cNvSpPr/>
          <p:nvPr/>
        </p:nvSpPr>
        <p:spPr>
          <a:xfrm>
            <a:off x="6126480" y="2423160"/>
            <a:ext cx="2194560" cy="640080"/>
          </a:xfrm>
          <a:prstGeom prst="rect">
            <a:avLst/>
          </a:prstGeom>
          <a:noFill/>
          <a:ln/>
        </p:spPr>
        <p:txBody>
          <a:bodyPr wrap="square" lIns="0" tIns="0" rIns="0" bIns="0" rtlCol="0" anchor="ctr"/>
          <a:lstStyle/>
          <a:p>
            <a:pPr marL="0" indent="0" algn="ctr">
              <a:buNone/>
            </a:pPr>
            <a:r>
              <a:rPr lang="en-US" sz="3200" b="1" dirty="0">
                <a:solidFill>
                  <a:srgbClr val="CF3338"/>
                </a:solidFill>
                <a:latin typeface="Arial Black" pitchFamily="34" charset="0"/>
                <a:ea typeface="Arial Black" pitchFamily="34" charset="-122"/>
                <a:cs typeface="Arial Black" pitchFamily="34" charset="-120"/>
              </a:rPr>
              <a:t>3</a:t>
            </a:r>
            <a:endParaRPr lang="en-US" sz="3200" dirty="0"/>
          </a:p>
        </p:txBody>
      </p:sp>
      <p:sp>
        <p:nvSpPr>
          <p:cNvPr id="11" name="Text 9"/>
          <p:cNvSpPr/>
          <p:nvPr/>
        </p:nvSpPr>
        <p:spPr>
          <a:xfrm>
            <a:off x="6126480" y="3063240"/>
            <a:ext cx="2194560" cy="548640"/>
          </a:xfrm>
          <a:prstGeom prst="rect">
            <a:avLst/>
          </a:prstGeom>
          <a:noFill/>
          <a:ln/>
        </p:spPr>
        <p:txBody>
          <a:bodyPr wrap="square" lIns="0" tIns="0" rIns="0" bIns="0" rtlCol="0" anchor="t"/>
          <a:lstStyle/>
          <a:p>
            <a:pPr marL="0" indent="0" algn="ctr">
              <a:buNone/>
            </a:pPr>
            <a:r>
              <a:rPr lang="en-US" sz="1500" b="1" dirty="0">
                <a:solidFill>
                  <a:srgbClr val="1F2120"/>
                </a:solidFill>
                <a:latin typeface="Arial Black" pitchFamily="34" charset="0"/>
                <a:ea typeface="Arial Black" pitchFamily="34" charset="-122"/>
                <a:cs typeface="Arial Black" pitchFamily="34" charset="-120"/>
              </a:rPr>
              <a:t>Automation</a:t>
            </a:r>
            <a:endParaRPr lang="en-US" sz="1500" dirty="0"/>
          </a:p>
        </p:txBody>
      </p:sp>
      <p:sp>
        <p:nvSpPr>
          <p:cNvPr id="12" name="Text 10"/>
          <p:cNvSpPr/>
          <p:nvPr/>
        </p:nvSpPr>
        <p:spPr>
          <a:xfrm>
            <a:off x="5943600" y="4572000"/>
            <a:ext cx="2743200" cy="274320"/>
          </a:xfrm>
          <a:prstGeom prst="rect">
            <a:avLst/>
          </a:prstGeom>
          <a:noFill/>
          <a:ln/>
        </p:spPr>
        <p:txBody>
          <a:bodyPr wrap="square" lIns="0" tIns="0" rIns="0" bIns="0" rtlCol="0" anchor="ctr"/>
          <a:lstStyle/>
          <a:p>
            <a:pPr marL="0" indent="0" algn="r">
              <a:buNone/>
            </a:pPr>
            <a:r>
              <a:rPr lang="en-US" sz="1000" dirty="0">
                <a:solidFill>
                  <a:srgbClr val="FFFFFF"/>
                </a:solidFill>
                <a:latin typeface="Arial Black" pitchFamily="34" charset="0"/>
                <a:ea typeface="Arial Black" pitchFamily="34" charset="-122"/>
                <a:cs typeface="Arial Black" pitchFamily="34" charset="-120"/>
              </a:rPr>
              <a:t>Stringfest Analytics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ECE1"/>
        </a:solidFill>
        <a:effectLst/>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CF3338"/>
          </a:solidFill>
          <a:ln/>
        </p:spPr>
        <p:txBody>
          <a:bodyPr/>
          <a:lstStyle/>
          <a:p>
            <a:endParaRPr lang="en-US"/>
          </a:p>
        </p:txBody>
      </p:sp>
      <p:sp>
        <p:nvSpPr>
          <p:cNvPr id="3" name="Shape 1"/>
          <p:cNvSpPr/>
          <p:nvPr/>
        </p:nvSpPr>
        <p:spPr>
          <a:xfrm>
            <a:off x="0" y="0"/>
            <a:ext cx="9144000" cy="54864"/>
          </a:xfrm>
          <a:prstGeom prst="rect">
            <a:avLst/>
          </a:prstGeom>
          <a:solidFill>
            <a:srgbClr val="CF3338"/>
          </a:solidFill>
          <a:ln/>
        </p:spPr>
        <p:txBody>
          <a:bodyPr/>
          <a:lstStyle/>
          <a:p>
            <a:endParaRPr lang="en-US"/>
          </a:p>
        </p:txBody>
      </p:sp>
      <p:sp>
        <p:nvSpPr>
          <p:cNvPr id="4" name="Shape 2"/>
          <p:cNvSpPr/>
          <p:nvPr/>
        </p:nvSpPr>
        <p:spPr>
          <a:xfrm>
            <a:off x="457200" y="320040"/>
            <a:ext cx="548640" cy="548640"/>
          </a:xfrm>
          <a:prstGeom prst="ellipse">
            <a:avLst/>
          </a:prstGeom>
          <a:solidFill>
            <a:srgbClr val="CF3338"/>
          </a:solidFill>
          <a:ln/>
        </p:spPr>
        <p:txBody>
          <a:bodyPr/>
          <a:lstStyle/>
          <a:p>
            <a:endParaRPr lang="en-US"/>
          </a:p>
        </p:txBody>
      </p:sp>
      <p:sp>
        <p:nvSpPr>
          <p:cNvPr id="5" name="Text 3"/>
          <p:cNvSpPr/>
          <p:nvPr/>
        </p:nvSpPr>
        <p:spPr>
          <a:xfrm>
            <a:off x="457200" y="320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1</a:t>
            </a:r>
            <a:endParaRPr lang="en-US" sz="2200" dirty="0"/>
          </a:p>
        </p:txBody>
      </p:sp>
      <p:sp>
        <p:nvSpPr>
          <p:cNvPr id="6" name="Text 4"/>
          <p:cNvSpPr/>
          <p:nvPr/>
        </p:nvSpPr>
        <p:spPr>
          <a:xfrm>
            <a:off x="1188720" y="274320"/>
            <a:ext cx="6858000" cy="685800"/>
          </a:xfrm>
          <a:prstGeom prst="rect">
            <a:avLst/>
          </a:prstGeom>
          <a:noFill/>
          <a:ln/>
        </p:spPr>
        <p:txBody>
          <a:bodyPr wrap="square" lIns="0" tIns="0" rIns="0" bIns="0" rtlCol="0" anchor="ctr"/>
          <a:lstStyle/>
          <a:p>
            <a:pPr marL="0" indent="0">
              <a:buNone/>
            </a:pPr>
            <a:r>
              <a:rPr lang="en-US" sz="2200" b="1" dirty="0">
                <a:solidFill>
                  <a:srgbClr val="CF3338"/>
                </a:solidFill>
                <a:latin typeface="Arial Black" pitchFamily="34" charset="0"/>
                <a:ea typeface="Arial Black" pitchFamily="34" charset="-122"/>
                <a:cs typeface="Arial Black" pitchFamily="34" charset="-120"/>
              </a:rPr>
              <a:t>Auditable data cleaning with Power Query</a:t>
            </a:r>
            <a:endParaRPr lang="en-US" sz="2200" dirty="0"/>
          </a:p>
        </p:txBody>
      </p:sp>
      <p:sp>
        <p:nvSpPr>
          <p:cNvPr id="7" name="Text 5"/>
          <p:cNvSpPr/>
          <p:nvPr/>
        </p:nvSpPr>
        <p:spPr>
          <a:xfrm>
            <a:off x="640080" y="1234440"/>
            <a:ext cx="7772400" cy="457200"/>
          </a:xfrm>
          <a:prstGeom prst="rect">
            <a:avLst/>
          </a:prstGeom>
          <a:noFill/>
          <a:ln/>
        </p:spPr>
        <p:txBody>
          <a:bodyPr wrap="square" lIns="0" tIns="0" rIns="0" bIns="0" rtlCol="0" anchor="ctr"/>
          <a:lstStyle/>
          <a:p>
            <a:pPr marL="0" indent="0">
              <a:buNone/>
            </a:pPr>
            <a:r>
              <a:rPr lang="en-US" sz="1400" dirty="0">
                <a:solidFill>
                  <a:srgbClr val="CF3338"/>
                </a:solidFill>
              </a:rPr>
              <a:t>•  </a:t>
            </a:r>
            <a:r>
              <a:rPr lang="en-US" sz="1400" dirty="0">
                <a:solidFill>
                  <a:srgbClr val="707070"/>
                </a:solidFill>
                <a:latin typeface="Arial" pitchFamily="34" charset="0"/>
                <a:ea typeface="Arial" pitchFamily="34" charset="-122"/>
                <a:cs typeface="Arial" pitchFamily="34" charset="-120"/>
              </a:rPr>
              <a:t>Use Copilot to profile for dirty data</a:t>
            </a:r>
            <a:endParaRPr lang="en-US" sz="1400" dirty="0"/>
          </a:p>
        </p:txBody>
      </p:sp>
      <p:sp>
        <p:nvSpPr>
          <p:cNvPr id="8" name="Text 6"/>
          <p:cNvSpPr/>
          <p:nvPr/>
        </p:nvSpPr>
        <p:spPr>
          <a:xfrm>
            <a:off x="640080" y="1737360"/>
            <a:ext cx="7772400" cy="457200"/>
          </a:xfrm>
          <a:prstGeom prst="rect">
            <a:avLst/>
          </a:prstGeom>
          <a:noFill/>
          <a:ln/>
        </p:spPr>
        <p:txBody>
          <a:bodyPr wrap="square" lIns="0" tIns="0" rIns="0" bIns="0" rtlCol="0" anchor="ctr"/>
          <a:lstStyle/>
          <a:p>
            <a:pPr marL="0" indent="0">
              <a:buNone/>
            </a:pPr>
            <a:r>
              <a:rPr lang="en-US" sz="1400" dirty="0">
                <a:solidFill>
                  <a:srgbClr val="CF3338"/>
                </a:solidFill>
              </a:rPr>
              <a:t>•  </a:t>
            </a:r>
            <a:r>
              <a:rPr lang="en-US" sz="1400" dirty="0">
                <a:solidFill>
                  <a:srgbClr val="707070"/>
                </a:solidFill>
                <a:latin typeface="Arial" pitchFamily="34" charset="0"/>
                <a:ea typeface="Arial" pitchFamily="34" charset="-122"/>
                <a:cs typeface="Arial" pitchFamily="34" charset="-120"/>
              </a:rPr>
              <a:t>Build the reproducible pipeline in Power Query</a:t>
            </a:r>
            <a:endParaRPr lang="en-US" sz="1400" dirty="0"/>
          </a:p>
        </p:txBody>
      </p:sp>
      <p:sp>
        <p:nvSpPr>
          <p:cNvPr id="9" name="Text 7"/>
          <p:cNvSpPr/>
          <p:nvPr/>
        </p:nvSpPr>
        <p:spPr>
          <a:xfrm>
            <a:off x="640080" y="2240280"/>
            <a:ext cx="7772400" cy="457200"/>
          </a:xfrm>
          <a:prstGeom prst="rect">
            <a:avLst/>
          </a:prstGeom>
          <a:noFill/>
          <a:ln/>
        </p:spPr>
        <p:txBody>
          <a:bodyPr wrap="square" lIns="0" tIns="0" rIns="0" bIns="0" rtlCol="0" anchor="ctr"/>
          <a:lstStyle/>
          <a:p>
            <a:pPr marL="0" indent="0">
              <a:buNone/>
            </a:pPr>
            <a:r>
              <a:rPr lang="en-US" sz="1400" dirty="0">
                <a:solidFill>
                  <a:srgbClr val="CF3338"/>
                </a:solidFill>
              </a:rPr>
              <a:t>•  </a:t>
            </a:r>
            <a:r>
              <a:rPr lang="en-US" sz="1400" dirty="0">
                <a:solidFill>
                  <a:srgbClr val="707070"/>
                </a:solidFill>
                <a:latin typeface="Arial" pitchFamily="34" charset="0"/>
                <a:ea typeface="Arial" pitchFamily="34" charset="-122"/>
                <a:cs typeface="Arial" pitchFamily="34" charset="-120"/>
              </a:rPr>
              <a:t>Document your steps with Copilot’s help</a:t>
            </a:r>
            <a:endParaRPr lang="en-US" sz="1400" dirty="0"/>
          </a:p>
        </p:txBody>
      </p:sp>
      <p:sp>
        <p:nvSpPr>
          <p:cNvPr id="10" name="Shape 8"/>
          <p:cNvSpPr/>
          <p:nvPr/>
        </p:nvSpPr>
        <p:spPr>
          <a:xfrm>
            <a:off x="640080" y="3017520"/>
            <a:ext cx="7772400" cy="1005840"/>
          </a:xfrm>
          <a:prstGeom prst="rect">
            <a:avLst/>
          </a:prstGeom>
          <a:solidFill>
            <a:srgbClr val="2B6B7F"/>
          </a:solidFill>
          <a:ln/>
        </p:spPr>
        <p:txBody>
          <a:bodyPr/>
          <a:lstStyle/>
          <a:p>
            <a:endParaRPr lang="en-US"/>
          </a:p>
        </p:txBody>
      </p:sp>
      <p:sp>
        <p:nvSpPr>
          <p:cNvPr id="11" name="Text 9"/>
          <p:cNvSpPr/>
          <p:nvPr/>
        </p:nvSpPr>
        <p:spPr>
          <a:xfrm>
            <a:off x="868680" y="3108960"/>
            <a:ext cx="7315200" cy="274320"/>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Why this matters</a:t>
            </a:r>
            <a:endParaRPr lang="en-US" sz="1200" dirty="0"/>
          </a:p>
        </p:txBody>
      </p:sp>
      <p:sp>
        <p:nvSpPr>
          <p:cNvPr id="12" name="Text 10"/>
          <p:cNvSpPr/>
          <p:nvPr/>
        </p:nvSpPr>
        <p:spPr>
          <a:xfrm>
            <a:off x="868680" y="3401568"/>
            <a:ext cx="7315200" cy="502920"/>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Power Query is deterministic: same input, same output, every time.</a:t>
            </a:r>
            <a:endParaRPr lang="en-US" sz="1200" dirty="0"/>
          </a:p>
          <a:p>
            <a:pPr marL="0" indent="0">
              <a:buNone/>
            </a:pPr>
            <a:r>
              <a:rPr lang="en-US" sz="1200" dirty="0">
                <a:solidFill>
                  <a:srgbClr val="FFFFFF"/>
                </a:solidFill>
                <a:latin typeface="Arial" pitchFamily="34" charset="0"/>
                <a:ea typeface="Arial" pitchFamily="34" charset="-122"/>
                <a:cs typeface="Arial" pitchFamily="34" charset="-120"/>
              </a:rPr>
              <a:t>This is the foundation before any AI enters the picture.</a:t>
            </a:r>
            <a:endParaRPr lang="en-US" sz="1200" dirty="0"/>
          </a:p>
        </p:txBody>
      </p:sp>
      <p:sp>
        <p:nvSpPr>
          <p:cNvPr id="13" name="Text 11"/>
          <p:cNvSpPr/>
          <p:nvPr/>
        </p:nvSpPr>
        <p:spPr>
          <a:xfrm>
            <a:off x="640080" y="4572000"/>
            <a:ext cx="3657600" cy="274320"/>
          </a:xfrm>
          <a:prstGeom prst="rect">
            <a:avLst/>
          </a:prstGeom>
          <a:noFill/>
          <a:ln/>
        </p:spPr>
        <p:txBody>
          <a:bodyPr wrap="square" lIns="0" tIns="0" rIns="0" bIns="0" rtlCol="0" anchor="ctr"/>
          <a:lstStyle/>
          <a:p>
            <a:pPr marL="0" indent="0">
              <a:buNone/>
            </a:pPr>
            <a:r>
              <a:rPr lang="en-US" sz="1000" dirty="0">
                <a:solidFill>
                  <a:srgbClr val="707070"/>
                </a:solidFill>
                <a:latin typeface="Consolas" pitchFamily="34" charset="0"/>
                <a:ea typeface="Consolas" pitchFamily="34" charset="-122"/>
                <a:cs typeface="Consolas" pitchFamily="34" charset="-120"/>
              </a:rPr>
              <a:t>Worksheet: EquitySnapshot</a:t>
            </a:r>
            <a:endParaRPr lang="en-US" sz="1000" dirty="0"/>
          </a:p>
        </p:txBody>
      </p:sp>
      <p:sp>
        <p:nvSpPr>
          <p:cNvPr id="14" name="Text 12"/>
          <p:cNvSpPr/>
          <p:nvPr/>
        </p:nvSpPr>
        <p:spPr>
          <a:xfrm>
            <a:off x="6583680" y="4754880"/>
            <a:ext cx="2286000" cy="274320"/>
          </a:xfrm>
          <a:prstGeom prst="rect">
            <a:avLst/>
          </a:prstGeom>
          <a:noFill/>
          <a:ln/>
        </p:spPr>
        <p:txBody>
          <a:bodyPr wrap="square" lIns="0" tIns="0" rIns="0" bIns="0" rtlCol="0" anchor="ctr"/>
          <a:lstStyle/>
          <a:p>
            <a:pPr marL="0" indent="0" algn="r">
              <a:buNone/>
            </a:pPr>
            <a:r>
              <a:rPr lang="en-US" sz="900" dirty="0">
                <a:solidFill>
                  <a:srgbClr val="707070"/>
                </a:solidFill>
                <a:latin typeface="Arial Black" pitchFamily="34" charset="0"/>
                <a:ea typeface="Arial Black" pitchFamily="34" charset="-122"/>
                <a:cs typeface="Arial Black" pitchFamily="34" charset="-120"/>
              </a:rPr>
              <a:t>Stringfest Analytics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ECE1"/>
        </a:solidFill>
        <a:effectLst/>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CF3338"/>
          </a:solidFill>
          <a:ln/>
        </p:spPr>
        <p:txBody>
          <a:bodyPr/>
          <a:lstStyle/>
          <a:p>
            <a:endParaRPr lang="en-US"/>
          </a:p>
        </p:txBody>
      </p:sp>
      <p:sp>
        <p:nvSpPr>
          <p:cNvPr id="3" name="Shape 1"/>
          <p:cNvSpPr/>
          <p:nvPr/>
        </p:nvSpPr>
        <p:spPr>
          <a:xfrm>
            <a:off x="0" y="0"/>
            <a:ext cx="9144000" cy="54864"/>
          </a:xfrm>
          <a:prstGeom prst="rect">
            <a:avLst/>
          </a:prstGeom>
          <a:solidFill>
            <a:srgbClr val="CF3338"/>
          </a:solidFill>
          <a:ln/>
        </p:spPr>
        <p:txBody>
          <a:bodyPr/>
          <a:lstStyle/>
          <a:p>
            <a:endParaRPr lang="en-US"/>
          </a:p>
        </p:txBody>
      </p:sp>
      <p:sp>
        <p:nvSpPr>
          <p:cNvPr id="4" name="Shape 2"/>
          <p:cNvSpPr/>
          <p:nvPr/>
        </p:nvSpPr>
        <p:spPr>
          <a:xfrm>
            <a:off x="457200" y="320040"/>
            <a:ext cx="548640" cy="548640"/>
          </a:xfrm>
          <a:prstGeom prst="ellipse">
            <a:avLst/>
          </a:prstGeom>
          <a:solidFill>
            <a:srgbClr val="CF3338"/>
          </a:solidFill>
          <a:ln/>
        </p:spPr>
        <p:txBody>
          <a:bodyPr/>
          <a:lstStyle/>
          <a:p>
            <a:endParaRPr lang="en-US"/>
          </a:p>
        </p:txBody>
      </p:sp>
      <p:sp>
        <p:nvSpPr>
          <p:cNvPr id="5" name="Text 3"/>
          <p:cNvSpPr/>
          <p:nvPr/>
        </p:nvSpPr>
        <p:spPr>
          <a:xfrm>
            <a:off x="457200" y="320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6" name="Text 4"/>
          <p:cNvSpPr/>
          <p:nvPr/>
        </p:nvSpPr>
        <p:spPr>
          <a:xfrm>
            <a:off x="1188720" y="274320"/>
            <a:ext cx="6858000" cy="685800"/>
          </a:xfrm>
          <a:prstGeom prst="rect">
            <a:avLst/>
          </a:prstGeom>
          <a:noFill/>
          <a:ln/>
        </p:spPr>
        <p:txBody>
          <a:bodyPr wrap="square" lIns="0" tIns="0" rIns="0" bIns="0" rtlCol="0" anchor="ctr"/>
          <a:lstStyle/>
          <a:p>
            <a:pPr marL="0" indent="0">
              <a:buNone/>
            </a:pPr>
            <a:r>
              <a:rPr lang="en-US" sz="2200" b="1" dirty="0">
                <a:solidFill>
                  <a:srgbClr val="CF3338"/>
                </a:solidFill>
                <a:latin typeface="Arial Black" pitchFamily="34" charset="0"/>
                <a:ea typeface="Arial Black" pitchFamily="34" charset="-122"/>
                <a:cs typeface="Arial Black" pitchFamily="34" charset="-120"/>
              </a:rPr>
              <a:t>AI-assisted analysis with Copilot</a:t>
            </a:r>
            <a:endParaRPr lang="en-US" sz="2200" dirty="0"/>
          </a:p>
        </p:txBody>
      </p:sp>
      <p:sp>
        <p:nvSpPr>
          <p:cNvPr id="7" name="Text 5"/>
          <p:cNvSpPr/>
          <p:nvPr/>
        </p:nvSpPr>
        <p:spPr>
          <a:xfrm>
            <a:off x="640080" y="1234440"/>
            <a:ext cx="7772400" cy="457200"/>
          </a:xfrm>
          <a:prstGeom prst="rect">
            <a:avLst/>
          </a:prstGeom>
          <a:noFill/>
          <a:ln/>
        </p:spPr>
        <p:txBody>
          <a:bodyPr wrap="square" lIns="0" tIns="0" rIns="0" bIns="0" rtlCol="0" anchor="ctr"/>
          <a:lstStyle/>
          <a:p>
            <a:pPr marL="0" indent="0">
              <a:buNone/>
            </a:pPr>
            <a:r>
              <a:rPr lang="en-US" sz="1400" dirty="0">
                <a:solidFill>
                  <a:srgbClr val="CF3338"/>
                </a:solidFill>
              </a:rPr>
              <a:t>•  </a:t>
            </a:r>
            <a:r>
              <a:rPr lang="en-US" sz="1400" dirty="0">
                <a:solidFill>
                  <a:srgbClr val="707070"/>
                </a:solidFill>
                <a:latin typeface="Arial" pitchFamily="34" charset="0"/>
                <a:ea typeface="Arial" pitchFamily="34" charset="-122"/>
                <a:cs typeface="Arial" pitchFamily="34" charset="-120"/>
              </a:rPr>
              <a:t>Ask Copilot to explore and summarize your data</a:t>
            </a:r>
            <a:endParaRPr lang="en-US" sz="1400" dirty="0"/>
          </a:p>
        </p:txBody>
      </p:sp>
      <p:sp>
        <p:nvSpPr>
          <p:cNvPr id="8" name="Text 6"/>
          <p:cNvSpPr/>
          <p:nvPr/>
        </p:nvSpPr>
        <p:spPr>
          <a:xfrm>
            <a:off x="640080" y="1737360"/>
            <a:ext cx="7772400" cy="457200"/>
          </a:xfrm>
          <a:prstGeom prst="rect">
            <a:avLst/>
          </a:prstGeom>
          <a:noFill/>
          <a:ln/>
        </p:spPr>
        <p:txBody>
          <a:bodyPr wrap="square" lIns="0" tIns="0" rIns="0" bIns="0" rtlCol="0" anchor="ctr"/>
          <a:lstStyle/>
          <a:p>
            <a:pPr marL="0" indent="0">
              <a:buNone/>
            </a:pPr>
            <a:r>
              <a:rPr lang="en-US" sz="1400" dirty="0">
                <a:solidFill>
                  <a:srgbClr val="CF3338"/>
                </a:solidFill>
              </a:rPr>
              <a:t>•  </a:t>
            </a:r>
            <a:r>
              <a:rPr lang="en-US" sz="1400" dirty="0">
                <a:solidFill>
                  <a:srgbClr val="707070"/>
                </a:solidFill>
                <a:latin typeface="Arial" pitchFamily="34" charset="0"/>
                <a:ea typeface="Arial" pitchFamily="34" charset="-122"/>
                <a:cs typeface="Arial" pitchFamily="34" charset="-120"/>
              </a:rPr>
              <a:t>Use Edit with Copilot for multi-step tasks across sheets</a:t>
            </a:r>
            <a:endParaRPr lang="en-US" sz="1400" dirty="0"/>
          </a:p>
        </p:txBody>
      </p:sp>
      <p:sp>
        <p:nvSpPr>
          <p:cNvPr id="9" name="Text 7"/>
          <p:cNvSpPr/>
          <p:nvPr/>
        </p:nvSpPr>
        <p:spPr>
          <a:xfrm>
            <a:off x="640080" y="2240280"/>
            <a:ext cx="7772400" cy="457200"/>
          </a:xfrm>
          <a:prstGeom prst="rect">
            <a:avLst/>
          </a:prstGeom>
          <a:noFill/>
          <a:ln/>
        </p:spPr>
        <p:txBody>
          <a:bodyPr wrap="square" lIns="0" tIns="0" rIns="0" bIns="0" rtlCol="0" anchor="ctr"/>
          <a:lstStyle/>
          <a:p>
            <a:pPr marL="0" indent="0">
              <a:buNone/>
            </a:pPr>
            <a:r>
              <a:rPr lang="en-US" sz="1400" dirty="0">
                <a:solidFill>
                  <a:srgbClr val="CF3338"/>
                </a:solidFill>
              </a:rPr>
              <a:t>•  </a:t>
            </a:r>
            <a:r>
              <a:rPr lang="en-US" sz="1400" dirty="0">
                <a:solidFill>
                  <a:srgbClr val="707070"/>
                </a:solidFill>
                <a:latin typeface="Arial" pitchFamily="34" charset="0"/>
                <a:ea typeface="Arial" pitchFamily="34" charset="-122"/>
                <a:cs typeface="Arial" pitchFamily="34" charset="-120"/>
              </a:rPr>
              <a:t>Review, verify, and approve before trusting the output</a:t>
            </a:r>
            <a:endParaRPr lang="en-US" sz="1400" dirty="0"/>
          </a:p>
        </p:txBody>
      </p:sp>
      <p:sp>
        <p:nvSpPr>
          <p:cNvPr id="10" name="Shape 8"/>
          <p:cNvSpPr/>
          <p:nvPr/>
        </p:nvSpPr>
        <p:spPr>
          <a:xfrm>
            <a:off x="640080" y="3017520"/>
            <a:ext cx="7772400" cy="1005840"/>
          </a:xfrm>
          <a:prstGeom prst="rect">
            <a:avLst/>
          </a:prstGeom>
          <a:solidFill>
            <a:srgbClr val="2B6B7F"/>
          </a:solidFill>
          <a:ln/>
        </p:spPr>
        <p:txBody>
          <a:bodyPr/>
          <a:lstStyle/>
          <a:p>
            <a:endParaRPr lang="en-US"/>
          </a:p>
        </p:txBody>
      </p:sp>
      <p:sp>
        <p:nvSpPr>
          <p:cNvPr id="11" name="Text 9"/>
          <p:cNvSpPr/>
          <p:nvPr/>
        </p:nvSpPr>
        <p:spPr>
          <a:xfrm>
            <a:off x="868680" y="3108960"/>
            <a:ext cx="7315200" cy="274320"/>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Why this matters</a:t>
            </a:r>
            <a:endParaRPr lang="en-US" sz="1200" dirty="0"/>
          </a:p>
        </p:txBody>
      </p:sp>
      <p:sp>
        <p:nvSpPr>
          <p:cNvPr id="12" name="Text 10"/>
          <p:cNvSpPr/>
          <p:nvPr/>
        </p:nvSpPr>
        <p:spPr>
          <a:xfrm>
            <a:off x="868680" y="3401568"/>
            <a:ext cx="7315200" cy="502920"/>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Copilot is probabilistic: treat its output as a first draft.</a:t>
            </a:r>
            <a:endParaRPr lang="en-US" sz="1200" dirty="0"/>
          </a:p>
          <a:p>
            <a:pPr marL="0" indent="0">
              <a:buNone/>
            </a:pPr>
            <a:r>
              <a:rPr lang="en-US" sz="1200" dirty="0">
                <a:solidFill>
                  <a:srgbClr val="FFFFFF"/>
                </a:solidFill>
                <a:latin typeface="Arial" pitchFamily="34" charset="0"/>
                <a:ea typeface="Arial" pitchFamily="34" charset="-122"/>
                <a:cs typeface="Arial" pitchFamily="34" charset="-120"/>
              </a:rPr>
              <a:t>Always verify formulas, check logic, and keep yourself in the loop.</a:t>
            </a:r>
            <a:endParaRPr lang="en-US" sz="1200" dirty="0"/>
          </a:p>
        </p:txBody>
      </p:sp>
      <p:sp>
        <p:nvSpPr>
          <p:cNvPr id="13" name="Text 11"/>
          <p:cNvSpPr/>
          <p:nvPr/>
        </p:nvSpPr>
        <p:spPr>
          <a:xfrm>
            <a:off x="640080" y="4572000"/>
            <a:ext cx="3657600" cy="274320"/>
          </a:xfrm>
          <a:prstGeom prst="rect">
            <a:avLst/>
          </a:prstGeom>
          <a:noFill/>
          <a:ln/>
        </p:spPr>
        <p:txBody>
          <a:bodyPr wrap="square" lIns="0" tIns="0" rIns="0" bIns="0" rtlCol="0" anchor="ctr"/>
          <a:lstStyle/>
          <a:p>
            <a:pPr marL="0" indent="0">
              <a:buNone/>
            </a:pPr>
            <a:r>
              <a:rPr lang="en-US" sz="1000" dirty="0">
                <a:solidFill>
                  <a:srgbClr val="707070"/>
                </a:solidFill>
                <a:latin typeface="Consolas" pitchFamily="34" charset="0"/>
                <a:ea typeface="Consolas" pitchFamily="34" charset="-122"/>
                <a:cs typeface="Consolas" pitchFamily="34" charset="-120"/>
              </a:rPr>
              <a:t>Worksheet: EquitySnapshotClean</a:t>
            </a:r>
            <a:endParaRPr lang="en-US" sz="1000" dirty="0"/>
          </a:p>
        </p:txBody>
      </p:sp>
      <p:sp>
        <p:nvSpPr>
          <p:cNvPr id="14" name="Text 12"/>
          <p:cNvSpPr/>
          <p:nvPr/>
        </p:nvSpPr>
        <p:spPr>
          <a:xfrm>
            <a:off x="6583680" y="4754880"/>
            <a:ext cx="2286000" cy="274320"/>
          </a:xfrm>
          <a:prstGeom prst="rect">
            <a:avLst/>
          </a:prstGeom>
          <a:noFill/>
          <a:ln/>
        </p:spPr>
        <p:txBody>
          <a:bodyPr wrap="square" lIns="0" tIns="0" rIns="0" bIns="0" rtlCol="0" anchor="ctr"/>
          <a:lstStyle/>
          <a:p>
            <a:pPr marL="0" indent="0" algn="r">
              <a:buNone/>
            </a:pPr>
            <a:r>
              <a:rPr lang="en-US" sz="900" dirty="0">
                <a:solidFill>
                  <a:srgbClr val="707070"/>
                </a:solidFill>
                <a:latin typeface="Arial Black" pitchFamily="34" charset="0"/>
                <a:ea typeface="Arial Black" pitchFamily="34" charset="-122"/>
                <a:cs typeface="Arial Black" pitchFamily="34" charset="-120"/>
              </a:rPr>
              <a:t>Stringfest Analytics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ECE1"/>
        </a:solidFill>
        <a:effectLst/>
      </p:bgPr>
    </p:bg>
    <p:spTree>
      <p:nvGrpSpPr>
        <p:cNvPr id="1" name=""/>
        <p:cNvGrpSpPr/>
        <p:nvPr/>
      </p:nvGrpSpPr>
      <p:grpSpPr>
        <a:xfrm>
          <a:off x="0" y="0"/>
          <a:ext cx="0" cy="0"/>
          <a:chOff x="0" y="0"/>
          <a:chExt cx="0" cy="0"/>
        </a:xfrm>
      </p:grpSpPr>
      <p:sp>
        <p:nvSpPr>
          <p:cNvPr id="2" name="Shape 0"/>
          <p:cNvSpPr/>
          <p:nvPr/>
        </p:nvSpPr>
        <p:spPr>
          <a:xfrm>
            <a:off x="0" y="0"/>
            <a:ext cx="91440" cy="5143500"/>
          </a:xfrm>
          <a:prstGeom prst="rect">
            <a:avLst/>
          </a:prstGeom>
          <a:solidFill>
            <a:srgbClr val="CF3338"/>
          </a:solidFill>
          <a:ln/>
        </p:spPr>
        <p:txBody>
          <a:bodyPr/>
          <a:lstStyle/>
          <a:p>
            <a:endParaRPr lang="en-US"/>
          </a:p>
        </p:txBody>
      </p:sp>
      <p:sp>
        <p:nvSpPr>
          <p:cNvPr id="3" name="Shape 1"/>
          <p:cNvSpPr/>
          <p:nvPr/>
        </p:nvSpPr>
        <p:spPr>
          <a:xfrm>
            <a:off x="0" y="0"/>
            <a:ext cx="9144000" cy="54864"/>
          </a:xfrm>
          <a:prstGeom prst="rect">
            <a:avLst/>
          </a:prstGeom>
          <a:solidFill>
            <a:srgbClr val="CF3338"/>
          </a:solidFill>
          <a:ln/>
        </p:spPr>
        <p:txBody>
          <a:bodyPr/>
          <a:lstStyle/>
          <a:p>
            <a:endParaRPr lang="en-US"/>
          </a:p>
        </p:txBody>
      </p:sp>
      <p:sp>
        <p:nvSpPr>
          <p:cNvPr id="4" name="Shape 2"/>
          <p:cNvSpPr/>
          <p:nvPr/>
        </p:nvSpPr>
        <p:spPr>
          <a:xfrm>
            <a:off x="457200" y="320040"/>
            <a:ext cx="548640" cy="548640"/>
          </a:xfrm>
          <a:prstGeom prst="ellipse">
            <a:avLst/>
          </a:prstGeom>
          <a:solidFill>
            <a:srgbClr val="CF3338"/>
          </a:solidFill>
          <a:ln/>
        </p:spPr>
        <p:txBody>
          <a:bodyPr/>
          <a:lstStyle/>
          <a:p>
            <a:endParaRPr lang="en-US"/>
          </a:p>
        </p:txBody>
      </p:sp>
      <p:sp>
        <p:nvSpPr>
          <p:cNvPr id="5" name="Text 3"/>
          <p:cNvSpPr/>
          <p:nvPr/>
        </p:nvSpPr>
        <p:spPr>
          <a:xfrm>
            <a:off x="457200" y="3200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3</a:t>
            </a:r>
            <a:endParaRPr lang="en-US" sz="2200" dirty="0"/>
          </a:p>
        </p:txBody>
      </p:sp>
      <p:sp>
        <p:nvSpPr>
          <p:cNvPr id="6" name="Text 4"/>
          <p:cNvSpPr/>
          <p:nvPr/>
        </p:nvSpPr>
        <p:spPr>
          <a:xfrm>
            <a:off x="1188720" y="274320"/>
            <a:ext cx="6858000" cy="685800"/>
          </a:xfrm>
          <a:prstGeom prst="rect">
            <a:avLst/>
          </a:prstGeom>
          <a:noFill/>
          <a:ln/>
        </p:spPr>
        <p:txBody>
          <a:bodyPr wrap="square" lIns="0" tIns="0" rIns="0" bIns="0" rtlCol="0" anchor="ctr"/>
          <a:lstStyle/>
          <a:p>
            <a:pPr marL="0" indent="0">
              <a:buNone/>
            </a:pPr>
            <a:r>
              <a:rPr lang="en-US" sz="2200" b="1" dirty="0">
                <a:solidFill>
                  <a:srgbClr val="CF3338"/>
                </a:solidFill>
                <a:latin typeface="Arial Black" pitchFamily="34" charset="0"/>
                <a:ea typeface="Arial Black" pitchFamily="34" charset="-122"/>
                <a:cs typeface="Arial Black" pitchFamily="34" charset="-120"/>
              </a:rPr>
              <a:t>Automate with Office Scripts &amp; Power Automate</a:t>
            </a:r>
            <a:endParaRPr lang="en-US" sz="2200" dirty="0"/>
          </a:p>
        </p:txBody>
      </p:sp>
      <p:sp>
        <p:nvSpPr>
          <p:cNvPr id="7" name="Text 5"/>
          <p:cNvSpPr/>
          <p:nvPr/>
        </p:nvSpPr>
        <p:spPr>
          <a:xfrm>
            <a:off x="640080" y="1234440"/>
            <a:ext cx="7772400" cy="457200"/>
          </a:xfrm>
          <a:prstGeom prst="rect">
            <a:avLst/>
          </a:prstGeom>
          <a:noFill/>
          <a:ln/>
        </p:spPr>
        <p:txBody>
          <a:bodyPr wrap="square" lIns="0" tIns="0" rIns="0" bIns="0" rtlCol="0" anchor="ctr"/>
          <a:lstStyle/>
          <a:p>
            <a:pPr marL="0" indent="0">
              <a:buNone/>
            </a:pPr>
            <a:r>
              <a:rPr lang="en-US" sz="1400" dirty="0">
                <a:solidFill>
                  <a:srgbClr val="CF3338"/>
                </a:solidFill>
              </a:rPr>
              <a:t>•  </a:t>
            </a:r>
            <a:r>
              <a:rPr lang="en-US" sz="1400" dirty="0">
                <a:solidFill>
                  <a:srgbClr val="707070"/>
                </a:solidFill>
                <a:latin typeface="Arial" pitchFamily="34" charset="0"/>
                <a:ea typeface="Arial" pitchFamily="34" charset="-122"/>
                <a:cs typeface="Arial" pitchFamily="34" charset="-120"/>
              </a:rPr>
              <a:t>A short script checks your data: are prices filled in? Does the math tie?</a:t>
            </a:r>
            <a:endParaRPr lang="en-US" sz="1400" dirty="0"/>
          </a:p>
        </p:txBody>
      </p:sp>
      <p:sp>
        <p:nvSpPr>
          <p:cNvPr id="8" name="Text 6"/>
          <p:cNvSpPr/>
          <p:nvPr/>
        </p:nvSpPr>
        <p:spPr>
          <a:xfrm>
            <a:off x="640080" y="1737360"/>
            <a:ext cx="7772400" cy="457200"/>
          </a:xfrm>
          <a:prstGeom prst="rect">
            <a:avLst/>
          </a:prstGeom>
          <a:noFill/>
          <a:ln/>
        </p:spPr>
        <p:txBody>
          <a:bodyPr wrap="square" lIns="0" tIns="0" rIns="0" bIns="0" rtlCol="0" anchor="ctr"/>
          <a:lstStyle/>
          <a:p>
            <a:pPr marL="0" indent="0">
              <a:buNone/>
            </a:pPr>
            <a:r>
              <a:rPr lang="en-US" sz="1400" dirty="0">
                <a:solidFill>
                  <a:srgbClr val="CF3338"/>
                </a:solidFill>
              </a:rPr>
              <a:t>•  </a:t>
            </a:r>
            <a:r>
              <a:rPr lang="en-US" sz="1400" dirty="0">
                <a:solidFill>
                  <a:srgbClr val="707070"/>
                </a:solidFill>
                <a:latin typeface="Arial" pitchFamily="34" charset="0"/>
                <a:ea typeface="Arial" pitchFamily="34" charset="-122"/>
                <a:cs typeface="Arial" pitchFamily="34" charset="-120"/>
              </a:rPr>
              <a:t>Results go to a Logs sheet — timestamped, PASS or FAIL</a:t>
            </a:r>
            <a:endParaRPr lang="en-US" sz="1400" dirty="0"/>
          </a:p>
        </p:txBody>
      </p:sp>
      <p:sp>
        <p:nvSpPr>
          <p:cNvPr id="9" name="Text 7"/>
          <p:cNvSpPr/>
          <p:nvPr/>
        </p:nvSpPr>
        <p:spPr>
          <a:xfrm>
            <a:off x="640080" y="2240280"/>
            <a:ext cx="7772400" cy="457200"/>
          </a:xfrm>
          <a:prstGeom prst="rect">
            <a:avLst/>
          </a:prstGeom>
          <a:noFill/>
          <a:ln/>
        </p:spPr>
        <p:txBody>
          <a:bodyPr wrap="square" lIns="0" tIns="0" rIns="0" bIns="0" rtlCol="0" anchor="ctr"/>
          <a:lstStyle/>
          <a:p>
            <a:pPr marL="0" indent="0">
              <a:buNone/>
            </a:pPr>
            <a:r>
              <a:rPr lang="en-US" sz="1400" dirty="0">
                <a:solidFill>
                  <a:srgbClr val="CF3338"/>
                </a:solidFill>
              </a:rPr>
              <a:t>•  </a:t>
            </a:r>
            <a:r>
              <a:rPr lang="en-US" sz="1400" dirty="0">
                <a:solidFill>
                  <a:srgbClr val="707070"/>
                </a:solidFill>
                <a:latin typeface="Arial" pitchFamily="34" charset="0"/>
                <a:ea typeface="Arial" pitchFamily="34" charset="-122"/>
                <a:cs typeface="Arial" pitchFamily="34" charset="-120"/>
              </a:rPr>
              <a:t>Power Automate can run this on a schedule, no clicking required</a:t>
            </a:r>
            <a:endParaRPr lang="en-US" sz="1400" dirty="0"/>
          </a:p>
        </p:txBody>
      </p:sp>
      <p:sp>
        <p:nvSpPr>
          <p:cNvPr id="10" name="Shape 8"/>
          <p:cNvSpPr/>
          <p:nvPr/>
        </p:nvSpPr>
        <p:spPr>
          <a:xfrm>
            <a:off x="640080" y="3017520"/>
            <a:ext cx="7772400" cy="1005840"/>
          </a:xfrm>
          <a:prstGeom prst="rect">
            <a:avLst/>
          </a:prstGeom>
          <a:solidFill>
            <a:srgbClr val="2B6B7F"/>
          </a:solidFill>
          <a:ln/>
        </p:spPr>
        <p:txBody>
          <a:bodyPr/>
          <a:lstStyle/>
          <a:p>
            <a:endParaRPr lang="en-US"/>
          </a:p>
        </p:txBody>
      </p:sp>
      <p:sp>
        <p:nvSpPr>
          <p:cNvPr id="11" name="Text 9"/>
          <p:cNvSpPr/>
          <p:nvPr/>
        </p:nvSpPr>
        <p:spPr>
          <a:xfrm>
            <a:off x="868680" y="3108960"/>
            <a:ext cx="7315200" cy="274320"/>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Why this matters</a:t>
            </a:r>
            <a:endParaRPr lang="en-US" sz="1200" dirty="0"/>
          </a:p>
        </p:txBody>
      </p:sp>
      <p:sp>
        <p:nvSpPr>
          <p:cNvPr id="12" name="Text 10"/>
          <p:cNvSpPr/>
          <p:nvPr/>
        </p:nvSpPr>
        <p:spPr>
          <a:xfrm>
            <a:off x="868680" y="3401568"/>
            <a:ext cx="7315200" cy="502920"/>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Automation is deterministic once built. It saves time on tasks</a:t>
            </a:r>
            <a:endParaRPr lang="en-US" sz="1200" dirty="0"/>
          </a:p>
          <a:p>
            <a:pPr marL="0" indent="0">
              <a:buNone/>
            </a:pPr>
            <a:r>
              <a:rPr lang="en-US" sz="1200" dirty="0">
                <a:solidFill>
                  <a:srgbClr val="FFFFFF"/>
                </a:solidFill>
                <a:latin typeface="Arial" pitchFamily="34" charset="0"/>
                <a:ea typeface="Arial" pitchFamily="34" charset="-122"/>
                <a:cs typeface="Arial" pitchFamily="34" charset="-120"/>
              </a:rPr>
              <a:t>you do every week, and runs whether you remember or not.</a:t>
            </a:r>
            <a:endParaRPr lang="en-US" sz="1200" dirty="0"/>
          </a:p>
        </p:txBody>
      </p:sp>
      <p:sp>
        <p:nvSpPr>
          <p:cNvPr id="13" name="Text 11"/>
          <p:cNvSpPr/>
          <p:nvPr/>
        </p:nvSpPr>
        <p:spPr>
          <a:xfrm>
            <a:off x="640080" y="4572000"/>
            <a:ext cx="3657600" cy="274320"/>
          </a:xfrm>
          <a:prstGeom prst="rect">
            <a:avLst/>
          </a:prstGeom>
          <a:noFill/>
          <a:ln/>
        </p:spPr>
        <p:txBody>
          <a:bodyPr wrap="square" lIns="0" tIns="0" rIns="0" bIns="0" rtlCol="0" anchor="ctr"/>
          <a:lstStyle/>
          <a:p>
            <a:pPr marL="0" indent="0">
              <a:buNone/>
            </a:pPr>
            <a:r>
              <a:rPr lang="en-US" sz="1000" dirty="0">
                <a:solidFill>
                  <a:srgbClr val="707070"/>
                </a:solidFill>
                <a:latin typeface="Consolas" pitchFamily="34" charset="0"/>
                <a:ea typeface="Consolas" pitchFamily="34" charset="-122"/>
                <a:cs typeface="Consolas" pitchFamily="34" charset="-120"/>
              </a:rPr>
              <a:t>Worksheet: EquitySnapshotPlus</a:t>
            </a:r>
            <a:endParaRPr lang="en-US" sz="1000" dirty="0"/>
          </a:p>
        </p:txBody>
      </p:sp>
      <p:sp>
        <p:nvSpPr>
          <p:cNvPr id="14" name="Text 12"/>
          <p:cNvSpPr/>
          <p:nvPr/>
        </p:nvSpPr>
        <p:spPr>
          <a:xfrm>
            <a:off x="6583680" y="4754880"/>
            <a:ext cx="2286000" cy="274320"/>
          </a:xfrm>
          <a:prstGeom prst="rect">
            <a:avLst/>
          </a:prstGeom>
          <a:noFill/>
          <a:ln/>
        </p:spPr>
        <p:txBody>
          <a:bodyPr wrap="square" lIns="0" tIns="0" rIns="0" bIns="0" rtlCol="0" anchor="ctr"/>
          <a:lstStyle/>
          <a:p>
            <a:pPr marL="0" indent="0" algn="r">
              <a:buNone/>
            </a:pPr>
            <a:r>
              <a:rPr lang="en-US" sz="900" dirty="0">
                <a:solidFill>
                  <a:srgbClr val="707070"/>
                </a:solidFill>
                <a:latin typeface="Arial Black" pitchFamily="34" charset="0"/>
                <a:ea typeface="Arial Black" pitchFamily="34" charset="-122"/>
                <a:cs typeface="Arial Black" pitchFamily="34" charset="-120"/>
              </a:rPr>
              <a:t>Stringfest Analytics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ECE1"/>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F3338"/>
          </a:solidFill>
          <a:ln/>
        </p:spPr>
        <p:txBody>
          <a:bodyPr/>
          <a:lstStyle/>
          <a:p>
            <a:endParaRPr lang="en-US"/>
          </a:p>
        </p:txBody>
      </p:sp>
      <p:sp>
        <p:nvSpPr>
          <p:cNvPr id="3" name="Text 1"/>
          <p:cNvSpPr/>
          <p:nvPr/>
        </p:nvSpPr>
        <p:spPr>
          <a:xfrm>
            <a:off x="640080" y="274320"/>
            <a:ext cx="8229600" cy="548640"/>
          </a:xfrm>
          <a:prstGeom prst="rect">
            <a:avLst/>
          </a:prstGeom>
          <a:noFill/>
          <a:ln/>
        </p:spPr>
        <p:txBody>
          <a:bodyPr wrap="square" lIns="0" tIns="0" rIns="0" bIns="0" rtlCol="0" anchor="ctr"/>
          <a:lstStyle/>
          <a:p>
            <a:pPr marL="0" indent="0">
              <a:buNone/>
            </a:pPr>
            <a:r>
              <a:rPr lang="en-US" sz="2800" b="1" dirty="0">
                <a:solidFill>
                  <a:srgbClr val="1F2120"/>
                </a:solidFill>
                <a:latin typeface="Arial Black" pitchFamily="34" charset="0"/>
                <a:ea typeface="Arial Black" pitchFamily="34" charset="-122"/>
                <a:cs typeface="Arial Black" pitchFamily="34" charset="-120"/>
              </a:rPr>
              <a:t>Key Takeaways</a:t>
            </a:r>
            <a:endParaRPr lang="en-US" sz="2800" dirty="0"/>
          </a:p>
        </p:txBody>
      </p:sp>
      <p:sp>
        <p:nvSpPr>
          <p:cNvPr id="4" name="Shape 2"/>
          <p:cNvSpPr/>
          <p:nvPr/>
        </p:nvSpPr>
        <p:spPr>
          <a:xfrm>
            <a:off x="640080" y="1097280"/>
            <a:ext cx="457200" cy="457200"/>
          </a:xfrm>
          <a:prstGeom prst="ellipse">
            <a:avLst/>
          </a:prstGeom>
          <a:solidFill>
            <a:srgbClr val="CF3338"/>
          </a:solidFill>
          <a:ln/>
        </p:spPr>
        <p:txBody>
          <a:bodyPr/>
          <a:lstStyle/>
          <a:p>
            <a:endParaRPr lang="en-US"/>
          </a:p>
        </p:txBody>
      </p:sp>
      <p:sp>
        <p:nvSpPr>
          <p:cNvPr id="5" name="Text 3"/>
          <p:cNvSpPr/>
          <p:nvPr/>
        </p:nvSpPr>
        <p:spPr>
          <a:xfrm>
            <a:off x="640080" y="109728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Black" pitchFamily="34" charset="0"/>
                <a:ea typeface="Arial Black" pitchFamily="34" charset="-122"/>
                <a:cs typeface="Arial Black" pitchFamily="34" charset="-120"/>
              </a:rPr>
              <a:t>1</a:t>
            </a:r>
            <a:endParaRPr lang="en-US" sz="1700" dirty="0"/>
          </a:p>
        </p:txBody>
      </p:sp>
      <p:sp>
        <p:nvSpPr>
          <p:cNvPr id="6" name="Text 4"/>
          <p:cNvSpPr/>
          <p:nvPr/>
        </p:nvSpPr>
        <p:spPr>
          <a:xfrm>
            <a:off x="1325880" y="1051560"/>
            <a:ext cx="7132320" cy="320040"/>
          </a:xfrm>
          <a:prstGeom prst="rect">
            <a:avLst/>
          </a:prstGeom>
          <a:noFill/>
          <a:ln/>
        </p:spPr>
        <p:txBody>
          <a:bodyPr wrap="square" lIns="0" tIns="0" rIns="0" bIns="0" rtlCol="0" anchor="ctr"/>
          <a:lstStyle/>
          <a:p>
            <a:pPr marL="0" indent="0">
              <a:buNone/>
            </a:pPr>
            <a:r>
              <a:rPr lang="en-US" sz="1600" b="1" dirty="0">
                <a:solidFill>
                  <a:srgbClr val="1F2120"/>
                </a:solidFill>
                <a:latin typeface="Arial Black" pitchFamily="34" charset="0"/>
                <a:ea typeface="Arial Black" pitchFamily="34" charset="-122"/>
                <a:cs typeface="Arial Black" pitchFamily="34" charset="-120"/>
              </a:rPr>
              <a:t>Start with structure, not AI</a:t>
            </a:r>
            <a:endParaRPr lang="en-US" sz="1600" dirty="0"/>
          </a:p>
        </p:txBody>
      </p:sp>
      <p:sp>
        <p:nvSpPr>
          <p:cNvPr id="7" name="Text 5"/>
          <p:cNvSpPr/>
          <p:nvPr/>
        </p:nvSpPr>
        <p:spPr>
          <a:xfrm>
            <a:off x="1325880" y="1417320"/>
            <a:ext cx="7132320" cy="292608"/>
          </a:xfrm>
          <a:prstGeom prst="rect">
            <a:avLst/>
          </a:prstGeom>
          <a:noFill/>
          <a:ln/>
        </p:spPr>
        <p:txBody>
          <a:bodyPr wrap="square" lIns="0" tIns="0" rIns="0" bIns="0" rtlCol="0" anchor="ctr"/>
          <a:lstStyle/>
          <a:p>
            <a:pPr marL="0" indent="0">
              <a:buNone/>
            </a:pPr>
            <a:r>
              <a:rPr lang="en-US" sz="1300" dirty="0">
                <a:solidFill>
                  <a:srgbClr val="707070"/>
                </a:solidFill>
                <a:latin typeface="Arial" pitchFamily="34" charset="0"/>
                <a:ea typeface="Arial" pitchFamily="34" charset="-122"/>
                <a:cs typeface="Arial" pitchFamily="34" charset="-120"/>
              </a:rPr>
              <a:t>Power Query and good data design come first. AI amplifies what you build.</a:t>
            </a:r>
            <a:endParaRPr lang="en-US" sz="1300" dirty="0"/>
          </a:p>
        </p:txBody>
      </p:sp>
      <p:sp>
        <p:nvSpPr>
          <p:cNvPr id="8" name="Shape 6"/>
          <p:cNvSpPr/>
          <p:nvPr/>
        </p:nvSpPr>
        <p:spPr>
          <a:xfrm>
            <a:off x="640080" y="1856232"/>
            <a:ext cx="7772400" cy="9144"/>
          </a:xfrm>
          <a:prstGeom prst="rect">
            <a:avLst/>
          </a:prstGeom>
          <a:solidFill>
            <a:srgbClr val="D5D5D5"/>
          </a:solidFill>
          <a:ln/>
        </p:spPr>
        <p:txBody>
          <a:bodyPr/>
          <a:lstStyle/>
          <a:p>
            <a:endParaRPr lang="en-US"/>
          </a:p>
        </p:txBody>
      </p:sp>
      <p:sp>
        <p:nvSpPr>
          <p:cNvPr id="9" name="Shape 7"/>
          <p:cNvSpPr/>
          <p:nvPr/>
        </p:nvSpPr>
        <p:spPr>
          <a:xfrm>
            <a:off x="640080" y="2011680"/>
            <a:ext cx="457200" cy="457200"/>
          </a:xfrm>
          <a:prstGeom prst="ellipse">
            <a:avLst/>
          </a:prstGeom>
          <a:solidFill>
            <a:srgbClr val="CF3338"/>
          </a:solidFill>
          <a:ln/>
        </p:spPr>
        <p:txBody>
          <a:bodyPr/>
          <a:lstStyle/>
          <a:p>
            <a:endParaRPr lang="en-US"/>
          </a:p>
        </p:txBody>
      </p:sp>
      <p:sp>
        <p:nvSpPr>
          <p:cNvPr id="10" name="Text 8"/>
          <p:cNvSpPr/>
          <p:nvPr/>
        </p:nvSpPr>
        <p:spPr>
          <a:xfrm>
            <a:off x="640080" y="201168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Black" pitchFamily="34" charset="0"/>
                <a:ea typeface="Arial Black" pitchFamily="34" charset="-122"/>
                <a:cs typeface="Arial Black" pitchFamily="34" charset="-120"/>
              </a:rPr>
              <a:t>2</a:t>
            </a:r>
            <a:endParaRPr lang="en-US" sz="1700" dirty="0"/>
          </a:p>
        </p:txBody>
      </p:sp>
      <p:sp>
        <p:nvSpPr>
          <p:cNvPr id="11" name="Text 9"/>
          <p:cNvSpPr/>
          <p:nvPr/>
        </p:nvSpPr>
        <p:spPr>
          <a:xfrm>
            <a:off x="1325880" y="1965960"/>
            <a:ext cx="7132320" cy="320040"/>
          </a:xfrm>
          <a:prstGeom prst="rect">
            <a:avLst/>
          </a:prstGeom>
          <a:noFill/>
          <a:ln/>
        </p:spPr>
        <p:txBody>
          <a:bodyPr wrap="square" lIns="0" tIns="0" rIns="0" bIns="0" rtlCol="0" anchor="ctr"/>
          <a:lstStyle/>
          <a:p>
            <a:pPr marL="0" indent="0">
              <a:buNone/>
            </a:pPr>
            <a:r>
              <a:rPr lang="en-US" sz="1600" b="1" dirty="0">
                <a:solidFill>
                  <a:srgbClr val="1F2120"/>
                </a:solidFill>
                <a:latin typeface="Arial Black" pitchFamily="34" charset="0"/>
                <a:ea typeface="Arial Black" pitchFamily="34" charset="-122"/>
                <a:cs typeface="Arial Black" pitchFamily="34" charset="-120"/>
              </a:rPr>
              <a:t>Scripts are certain; prompts are not</a:t>
            </a:r>
            <a:endParaRPr lang="en-US" sz="1600" dirty="0"/>
          </a:p>
        </p:txBody>
      </p:sp>
      <p:sp>
        <p:nvSpPr>
          <p:cNvPr id="12" name="Text 10"/>
          <p:cNvSpPr/>
          <p:nvPr/>
        </p:nvSpPr>
        <p:spPr>
          <a:xfrm>
            <a:off x="1325880" y="2331720"/>
            <a:ext cx="7132320" cy="292608"/>
          </a:xfrm>
          <a:prstGeom prst="rect">
            <a:avLst/>
          </a:prstGeom>
          <a:noFill/>
          <a:ln/>
        </p:spPr>
        <p:txBody>
          <a:bodyPr wrap="square" lIns="0" tIns="0" rIns="0" bIns="0" rtlCol="0" anchor="ctr"/>
          <a:lstStyle/>
          <a:p>
            <a:pPr marL="0" indent="0">
              <a:buNone/>
            </a:pPr>
            <a:r>
              <a:rPr lang="en-US" sz="1300" dirty="0">
                <a:solidFill>
                  <a:srgbClr val="707070"/>
                </a:solidFill>
                <a:latin typeface="Arial" pitchFamily="34" charset="0"/>
                <a:ea typeface="Arial" pitchFamily="34" charset="-122"/>
                <a:cs typeface="Arial" pitchFamily="34" charset="-120"/>
              </a:rPr>
              <a:t>Know when you need a guaranteed answer vs. a helpful suggestion.</a:t>
            </a:r>
            <a:endParaRPr lang="en-US" sz="1300" dirty="0"/>
          </a:p>
        </p:txBody>
      </p:sp>
      <p:sp>
        <p:nvSpPr>
          <p:cNvPr id="13" name="Shape 11"/>
          <p:cNvSpPr/>
          <p:nvPr/>
        </p:nvSpPr>
        <p:spPr>
          <a:xfrm>
            <a:off x="640080" y="2770632"/>
            <a:ext cx="7772400" cy="9144"/>
          </a:xfrm>
          <a:prstGeom prst="rect">
            <a:avLst/>
          </a:prstGeom>
          <a:solidFill>
            <a:srgbClr val="D5D5D5"/>
          </a:solidFill>
          <a:ln/>
        </p:spPr>
        <p:txBody>
          <a:bodyPr/>
          <a:lstStyle/>
          <a:p>
            <a:endParaRPr lang="en-US"/>
          </a:p>
        </p:txBody>
      </p:sp>
      <p:sp>
        <p:nvSpPr>
          <p:cNvPr id="14" name="Shape 12"/>
          <p:cNvSpPr/>
          <p:nvPr/>
        </p:nvSpPr>
        <p:spPr>
          <a:xfrm>
            <a:off x="640080" y="2926080"/>
            <a:ext cx="457200" cy="457200"/>
          </a:xfrm>
          <a:prstGeom prst="ellipse">
            <a:avLst/>
          </a:prstGeom>
          <a:solidFill>
            <a:srgbClr val="CF3338"/>
          </a:solidFill>
          <a:ln/>
        </p:spPr>
        <p:txBody>
          <a:bodyPr/>
          <a:lstStyle/>
          <a:p>
            <a:endParaRPr lang="en-US"/>
          </a:p>
        </p:txBody>
      </p:sp>
      <p:sp>
        <p:nvSpPr>
          <p:cNvPr id="15" name="Text 13"/>
          <p:cNvSpPr/>
          <p:nvPr/>
        </p:nvSpPr>
        <p:spPr>
          <a:xfrm>
            <a:off x="640080" y="292608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Black" pitchFamily="34" charset="0"/>
                <a:ea typeface="Arial Black" pitchFamily="34" charset="-122"/>
                <a:cs typeface="Arial Black" pitchFamily="34" charset="-120"/>
              </a:rPr>
              <a:t>3</a:t>
            </a:r>
            <a:endParaRPr lang="en-US" sz="1700" dirty="0"/>
          </a:p>
        </p:txBody>
      </p:sp>
      <p:sp>
        <p:nvSpPr>
          <p:cNvPr id="16" name="Text 14"/>
          <p:cNvSpPr/>
          <p:nvPr/>
        </p:nvSpPr>
        <p:spPr>
          <a:xfrm>
            <a:off x="1325880" y="2880360"/>
            <a:ext cx="7132320" cy="320040"/>
          </a:xfrm>
          <a:prstGeom prst="rect">
            <a:avLst/>
          </a:prstGeom>
          <a:noFill/>
          <a:ln/>
        </p:spPr>
        <p:txBody>
          <a:bodyPr wrap="square" lIns="0" tIns="0" rIns="0" bIns="0" rtlCol="0" anchor="ctr"/>
          <a:lstStyle/>
          <a:p>
            <a:pPr marL="0" indent="0">
              <a:buNone/>
            </a:pPr>
            <a:r>
              <a:rPr lang="en-US" sz="1600" b="1" dirty="0">
                <a:solidFill>
                  <a:srgbClr val="1F2120"/>
                </a:solidFill>
                <a:latin typeface="Arial Black" pitchFamily="34" charset="0"/>
                <a:ea typeface="Arial Black" pitchFamily="34" charset="-122"/>
                <a:cs typeface="Arial Black" pitchFamily="34" charset="-120"/>
              </a:rPr>
              <a:t>Copilot is your assistant, not your replacement</a:t>
            </a:r>
            <a:endParaRPr lang="en-US" sz="1600" dirty="0"/>
          </a:p>
        </p:txBody>
      </p:sp>
      <p:sp>
        <p:nvSpPr>
          <p:cNvPr id="17" name="Text 15"/>
          <p:cNvSpPr/>
          <p:nvPr/>
        </p:nvSpPr>
        <p:spPr>
          <a:xfrm>
            <a:off x="1325880" y="3246120"/>
            <a:ext cx="7132320" cy="292608"/>
          </a:xfrm>
          <a:prstGeom prst="rect">
            <a:avLst/>
          </a:prstGeom>
          <a:noFill/>
          <a:ln/>
        </p:spPr>
        <p:txBody>
          <a:bodyPr wrap="square" lIns="0" tIns="0" rIns="0" bIns="0" rtlCol="0" anchor="ctr"/>
          <a:lstStyle/>
          <a:p>
            <a:pPr marL="0" indent="0">
              <a:buNone/>
            </a:pPr>
            <a:r>
              <a:rPr lang="en-US" sz="1300" dirty="0">
                <a:solidFill>
                  <a:srgbClr val="707070"/>
                </a:solidFill>
                <a:latin typeface="Arial" pitchFamily="34" charset="0"/>
                <a:ea typeface="Arial" pitchFamily="34" charset="-122"/>
                <a:cs typeface="Arial" pitchFamily="34" charset="-120"/>
              </a:rPr>
              <a:t>Always verify. Stay in the loop. Use AI to draft, not to decide.</a:t>
            </a:r>
            <a:endParaRPr lang="en-US" sz="1300" dirty="0"/>
          </a:p>
        </p:txBody>
      </p:sp>
      <p:sp>
        <p:nvSpPr>
          <p:cNvPr id="18" name="Shape 16"/>
          <p:cNvSpPr/>
          <p:nvPr/>
        </p:nvSpPr>
        <p:spPr>
          <a:xfrm>
            <a:off x="640080" y="3685032"/>
            <a:ext cx="7772400" cy="9144"/>
          </a:xfrm>
          <a:prstGeom prst="rect">
            <a:avLst/>
          </a:prstGeom>
          <a:solidFill>
            <a:srgbClr val="D5D5D5"/>
          </a:solidFill>
          <a:ln/>
        </p:spPr>
        <p:txBody>
          <a:bodyPr/>
          <a:lstStyle/>
          <a:p>
            <a:endParaRPr lang="en-US"/>
          </a:p>
        </p:txBody>
      </p:sp>
      <p:sp>
        <p:nvSpPr>
          <p:cNvPr id="19" name="Shape 17"/>
          <p:cNvSpPr/>
          <p:nvPr/>
        </p:nvSpPr>
        <p:spPr>
          <a:xfrm>
            <a:off x="640080" y="3840480"/>
            <a:ext cx="457200" cy="457200"/>
          </a:xfrm>
          <a:prstGeom prst="ellipse">
            <a:avLst/>
          </a:prstGeom>
          <a:solidFill>
            <a:srgbClr val="CF3338"/>
          </a:solidFill>
          <a:ln/>
        </p:spPr>
        <p:txBody>
          <a:bodyPr/>
          <a:lstStyle/>
          <a:p>
            <a:endParaRPr lang="en-US"/>
          </a:p>
        </p:txBody>
      </p:sp>
      <p:sp>
        <p:nvSpPr>
          <p:cNvPr id="20" name="Text 18"/>
          <p:cNvSpPr/>
          <p:nvPr/>
        </p:nvSpPr>
        <p:spPr>
          <a:xfrm>
            <a:off x="640080" y="384048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Black" pitchFamily="34" charset="0"/>
                <a:ea typeface="Arial Black" pitchFamily="34" charset="-122"/>
                <a:cs typeface="Arial Black" pitchFamily="34" charset="-120"/>
              </a:rPr>
              <a:t>4</a:t>
            </a:r>
            <a:endParaRPr lang="en-US" sz="1700" dirty="0"/>
          </a:p>
        </p:txBody>
      </p:sp>
      <p:sp>
        <p:nvSpPr>
          <p:cNvPr id="21" name="Text 19"/>
          <p:cNvSpPr/>
          <p:nvPr/>
        </p:nvSpPr>
        <p:spPr>
          <a:xfrm>
            <a:off x="1325880" y="3794760"/>
            <a:ext cx="7132320" cy="320040"/>
          </a:xfrm>
          <a:prstGeom prst="rect">
            <a:avLst/>
          </a:prstGeom>
          <a:noFill/>
          <a:ln/>
        </p:spPr>
        <p:txBody>
          <a:bodyPr wrap="square" lIns="0" tIns="0" rIns="0" bIns="0" rtlCol="0" anchor="ctr"/>
          <a:lstStyle/>
          <a:p>
            <a:pPr marL="0" indent="0">
              <a:buNone/>
            </a:pPr>
            <a:r>
              <a:rPr lang="en-US" sz="1600" b="1" dirty="0">
                <a:solidFill>
                  <a:srgbClr val="1F2120"/>
                </a:solidFill>
                <a:latin typeface="Arial Black" pitchFamily="34" charset="0"/>
                <a:ea typeface="Arial Black" pitchFamily="34" charset="-122"/>
                <a:cs typeface="Arial Black" pitchFamily="34" charset="-120"/>
              </a:rPr>
              <a:t>Security concerns are manageable</a:t>
            </a:r>
            <a:endParaRPr lang="en-US" sz="1600" dirty="0"/>
          </a:p>
        </p:txBody>
      </p:sp>
      <p:sp>
        <p:nvSpPr>
          <p:cNvPr id="22" name="Text 20"/>
          <p:cNvSpPr/>
          <p:nvPr/>
        </p:nvSpPr>
        <p:spPr>
          <a:xfrm>
            <a:off x="1325880" y="4160520"/>
            <a:ext cx="7132320" cy="292608"/>
          </a:xfrm>
          <a:prstGeom prst="rect">
            <a:avLst/>
          </a:prstGeom>
          <a:noFill/>
          <a:ln/>
        </p:spPr>
        <p:txBody>
          <a:bodyPr wrap="square" lIns="0" tIns="0" rIns="0" bIns="0" rtlCol="0" anchor="ctr"/>
          <a:lstStyle/>
          <a:p>
            <a:pPr marL="0" indent="0">
              <a:buNone/>
            </a:pPr>
            <a:r>
              <a:rPr lang="en-US" sz="1300" dirty="0">
                <a:solidFill>
                  <a:srgbClr val="707070"/>
                </a:solidFill>
                <a:latin typeface="Arial" pitchFamily="34" charset="0"/>
                <a:ea typeface="Arial" pitchFamily="34" charset="-122"/>
                <a:cs typeface="Arial" pitchFamily="34" charset="-120"/>
              </a:rPr>
              <a:t>M365 Copilot respects your tenant boundary. This is cloud ML, not a new risk category.</a:t>
            </a:r>
            <a:endParaRPr lang="en-US" sz="1300" dirty="0"/>
          </a:p>
        </p:txBody>
      </p:sp>
      <p:sp>
        <p:nvSpPr>
          <p:cNvPr id="23" name="Shape 21"/>
          <p:cNvSpPr/>
          <p:nvPr/>
        </p:nvSpPr>
        <p:spPr>
          <a:xfrm>
            <a:off x="640080" y="4434840"/>
            <a:ext cx="7772400" cy="9144"/>
          </a:xfrm>
          <a:prstGeom prst="rect">
            <a:avLst/>
          </a:prstGeom>
          <a:solidFill>
            <a:srgbClr val="CF3338"/>
          </a:solidFill>
          <a:ln/>
        </p:spPr>
        <p:txBody>
          <a:bodyPr/>
          <a:lstStyle/>
          <a:p>
            <a:endParaRPr lang="en-US"/>
          </a:p>
        </p:txBody>
      </p:sp>
      <p:sp>
        <p:nvSpPr>
          <p:cNvPr id="24" name="Text 22"/>
          <p:cNvSpPr/>
          <p:nvPr/>
        </p:nvSpPr>
        <p:spPr>
          <a:xfrm>
            <a:off x="640080" y="4526280"/>
            <a:ext cx="7772400" cy="320040"/>
          </a:xfrm>
          <a:prstGeom prst="rect">
            <a:avLst/>
          </a:prstGeom>
          <a:noFill/>
          <a:ln/>
        </p:spPr>
        <p:txBody>
          <a:bodyPr wrap="square" lIns="0" tIns="0" rIns="0" bIns="0" rtlCol="0" anchor="ctr"/>
          <a:lstStyle/>
          <a:p>
            <a:pPr marL="0" indent="0">
              <a:buNone/>
            </a:pPr>
            <a:r>
              <a:rPr lang="en-US" sz="1200" b="1" dirty="0">
                <a:solidFill>
                  <a:srgbClr val="CF3338"/>
                </a:solidFill>
                <a:latin typeface="Arial Black" pitchFamily="34" charset="0"/>
                <a:ea typeface="Arial Black" pitchFamily="34" charset="-122"/>
                <a:cs typeface="Arial Black" pitchFamily="34" charset="-120"/>
              </a:rPr>
              <a:t>Your next step: </a:t>
            </a:r>
            <a:r>
              <a:rPr lang="en-US" sz="1200" dirty="0">
                <a:solidFill>
                  <a:srgbClr val="707070"/>
                </a:solidFill>
                <a:latin typeface="Arial" pitchFamily="34" charset="0"/>
                <a:ea typeface="Arial" pitchFamily="34" charset="-122"/>
                <a:cs typeface="Arial" pitchFamily="34" charset="-120"/>
              </a:rPr>
              <a:t>Attend the Power Query lab, then try the SAFE framework on one real task this week.</a:t>
            </a:r>
            <a:endParaRPr lang="en-US" sz="1200" dirty="0"/>
          </a:p>
        </p:txBody>
      </p:sp>
      <p:sp>
        <p:nvSpPr>
          <p:cNvPr id="25" name="Text 23"/>
          <p:cNvSpPr/>
          <p:nvPr/>
        </p:nvSpPr>
        <p:spPr>
          <a:xfrm>
            <a:off x="6583680" y="4754880"/>
            <a:ext cx="2286000" cy="274320"/>
          </a:xfrm>
          <a:prstGeom prst="rect">
            <a:avLst/>
          </a:prstGeom>
          <a:noFill/>
          <a:ln/>
        </p:spPr>
        <p:txBody>
          <a:bodyPr wrap="square" lIns="0" tIns="0" rIns="0" bIns="0" rtlCol="0" anchor="ctr"/>
          <a:lstStyle/>
          <a:p>
            <a:pPr marL="0" indent="0" algn="r">
              <a:buNone/>
            </a:pPr>
            <a:r>
              <a:rPr lang="en-US" sz="900" dirty="0">
                <a:solidFill>
                  <a:srgbClr val="707070"/>
                </a:solidFill>
                <a:latin typeface="Arial Black" pitchFamily="34" charset="0"/>
                <a:ea typeface="Arial Black" pitchFamily="34" charset="-122"/>
                <a:cs typeface="Arial Black" pitchFamily="34" charset="-120"/>
              </a:rPr>
              <a:t>Stringfest Analytics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ECE1"/>
        </a:solidFill>
        <a:effectLst/>
      </p:bgPr>
    </p:bg>
    <p:spTree>
      <p:nvGrpSpPr>
        <p:cNvPr id="1" name=""/>
        <p:cNvGrpSpPr/>
        <p:nvPr/>
      </p:nvGrpSpPr>
      <p:grpSpPr>
        <a:xfrm>
          <a:off x="0" y="0"/>
          <a:ext cx="0" cy="0"/>
          <a:chOff x="0" y="0"/>
          <a:chExt cx="0" cy="0"/>
        </a:xfrm>
      </p:grpSpPr>
      <p:sp>
        <p:nvSpPr>
          <p:cNvPr id="2" name="Shape 0"/>
          <p:cNvSpPr/>
          <p:nvPr/>
        </p:nvSpPr>
        <p:spPr>
          <a:xfrm>
            <a:off x="5943600" y="0"/>
            <a:ext cx="3200400" cy="5143500"/>
          </a:xfrm>
          <a:prstGeom prst="rect">
            <a:avLst/>
          </a:prstGeom>
          <a:solidFill>
            <a:srgbClr val="CF3338"/>
          </a:solidFill>
          <a:ln/>
        </p:spPr>
        <p:txBody>
          <a:bodyPr/>
          <a:lstStyle/>
          <a:p>
            <a:endParaRPr lang="en-US"/>
          </a:p>
        </p:txBody>
      </p:sp>
      <p:sp>
        <p:nvSpPr>
          <p:cNvPr id="3" name="Text 1"/>
          <p:cNvSpPr/>
          <p:nvPr/>
        </p:nvSpPr>
        <p:spPr>
          <a:xfrm>
            <a:off x="640080" y="457200"/>
            <a:ext cx="4572000" cy="365760"/>
          </a:xfrm>
          <a:prstGeom prst="rect">
            <a:avLst/>
          </a:prstGeom>
          <a:noFill/>
          <a:ln/>
        </p:spPr>
        <p:txBody>
          <a:bodyPr wrap="square" lIns="0" tIns="0" rIns="0" bIns="0" rtlCol="0" anchor="ctr"/>
          <a:lstStyle/>
          <a:p>
            <a:pPr marL="0" indent="0">
              <a:buNone/>
            </a:pPr>
            <a:r>
              <a:rPr lang="en-US" sz="1300" dirty="0">
                <a:solidFill>
                  <a:srgbClr val="CF3338"/>
                </a:solidFill>
                <a:latin typeface="Arial Black" pitchFamily="34" charset="0"/>
                <a:ea typeface="Arial Black" pitchFamily="34" charset="-122"/>
                <a:cs typeface="Arial Black" pitchFamily="34" charset="-120"/>
              </a:rPr>
              <a:t>Stringfest Analytics</a:t>
            </a:r>
            <a:endParaRPr lang="en-US" sz="1300" dirty="0"/>
          </a:p>
        </p:txBody>
      </p:sp>
      <p:sp>
        <p:nvSpPr>
          <p:cNvPr id="4" name="Text 2"/>
          <p:cNvSpPr/>
          <p:nvPr/>
        </p:nvSpPr>
        <p:spPr>
          <a:xfrm>
            <a:off x="640080" y="1463040"/>
            <a:ext cx="5029200" cy="914400"/>
          </a:xfrm>
          <a:prstGeom prst="rect">
            <a:avLst/>
          </a:prstGeom>
          <a:noFill/>
          <a:ln/>
        </p:spPr>
        <p:txBody>
          <a:bodyPr wrap="square" lIns="0" tIns="0" rIns="0" bIns="0" rtlCol="0" anchor="ctr"/>
          <a:lstStyle/>
          <a:p>
            <a:pPr marL="0" indent="0">
              <a:buNone/>
            </a:pPr>
            <a:r>
              <a:rPr lang="en-US" sz="4000" b="1" dirty="0">
                <a:solidFill>
                  <a:srgbClr val="1F2120"/>
                </a:solidFill>
                <a:latin typeface="Arial Black" pitchFamily="34" charset="0"/>
                <a:ea typeface="Arial Black" pitchFamily="34" charset="-122"/>
                <a:cs typeface="Arial Black" pitchFamily="34" charset="-120"/>
              </a:rPr>
              <a:t>Questions?</a:t>
            </a:r>
            <a:endParaRPr lang="en-US" sz="4000" dirty="0"/>
          </a:p>
        </p:txBody>
      </p:sp>
      <p:sp>
        <p:nvSpPr>
          <p:cNvPr id="5" name="Text 3"/>
          <p:cNvSpPr/>
          <p:nvPr/>
        </p:nvSpPr>
        <p:spPr>
          <a:xfrm>
            <a:off x="640080" y="2468880"/>
            <a:ext cx="4572000" cy="640080"/>
          </a:xfrm>
          <a:prstGeom prst="rect">
            <a:avLst/>
          </a:prstGeom>
          <a:noFill/>
          <a:ln/>
        </p:spPr>
        <p:txBody>
          <a:bodyPr wrap="square" lIns="0" tIns="0" rIns="0" bIns="0" rtlCol="0" anchor="ctr"/>
          <a:lstStyle/>
          <a:p>
            <a:pPr marL="0" indent="0">
              <a:buNone/>
            </a:pPr>
            <a:r>
              <a:rPr lang="en-US" sz="1400" dirty="0">
                <a:solidFill>
                  <a:srgbClr val="707070"/>
                </a:solidFill>
                <a:latin typeface="Arial" pitchFamily="34" charset="0"/>
                <a:ea typeface="Arial" pitchFamily="34" charset="-122"/>
                <a:cs typeface="Arial" pitchFamily="34" charset="-120"/>
              </a:rPr>
              <a:t>george@stringfestanalytics.com</a:t>
            </a:r>
            <a:endParaRPr lang="en-US" sz="1400" dirty="0"/>
          </a:p>
          <a:p>
            <a:pPr marL="0" indent="0">
              <a:buNone/>
            </a:pPr>
            <a:r>
              <a:rPr lang="en-US" sz="1400" dirty="0">
                <a:solidFill>
                  <a:srgbClr val="707070"/>
                </a:solidFill>
                <a:latin typeface="Arial" pitchFamily="34" charset="0"/>
                <a:ea typeface="Arial" pitchFamily="34" charset="-122"/>
                <a:cs typeface="Arial" pitchFamily="34" charset="-120"/>
              </a:rPr>
              <a:t>stringfestanalytics.com</a:t>
            </a:r>
            <a:endParaRPr lang="en-US" sz="1400" dirty="0"/>
          </a:p>
        </p:txBody>
      </p:sp>
      <p:sp>
        <p:nvSpPr>
          <p:cNvPr id="6" name="Shape 4"/>
          <p:cNvSpPr/>
          <p:nvPr/>
        </p:nvSpPr>
        <p:spPr>
          <a:xfrm>
            <a:off x="640080" y="3246120"/>
            <a:ext cx="4846320" cy="1417320"/>
          </a:xfrm>
          <a:prstGeom prst="rect">
            <a:avLst/>
          </a:prstGeom>
          <a:solidFill>
            <a:srgbClr val="2B6B7F"/>
          </a:solidFill>
          <a:ln/>
        </p:spPr>
        <p:txBody>
          <a:bodyPr/>
          <a:lstStyle/>
          <a:p>
            <a:endParaRPr lang="en-US"/>
          </a:p>
        </p:txBody>
      </p:sp>
      <p:sp>
        <p:nvSpPr>
          <p:cNvPr id="7" name="Text 5"/>
          <p:cNvSpPr/>
          <p:nvPr/>
        </p:nvSpPr>
        <p:spPr>
          <a:xfrm>
            <a:off x="868680" y="3337560"/>
            <a:ext cx="4389120" cy="320040"/>
          </a:xfrm>
          <a:prstGeom prst="rect">
            <a:avLst/>
          </a:prstGeom>
          <a:noFill/>
          <a:ln/>
        </p:spPr>
        <p:txBody>
          <a:bodyPr wrap="square" lIns="0" tIns="0" rIns="0" bIns="0" rtlCol="0" anchor="ctr"/>
          <a:lstStyle/>
          <a:p>
            <a:pPr marL="0" indent="0">
              <a:buNone/>
            </a:pPr>
            <a:r>
              <a:rPr lang="en-US" sz="1400" b="1" dirty="0">
                <a:solidFill>
                  <a:srgbClr val="FFFFFF"/>
                </a:solidFill>
                <a:latin typeface="Arial Black" pitchFamily="34" charset="0"/>
                <a:ea typeface="Arial Black" pitchFamily="34" charset="-122"/>
                <a:cs typeface="Arial Black" pitchFamily="34" charset="-120"/>
              </a:rPr>
              <a:t>Want to go deeper?</a:t>
            </a:r>
            <a:endParaRPr lang="en-US" sz="1400" dirty="0"/>
          </a:p>
        </p:txBody>
      </p:sp>
      <p:sp>
        <p:nvSpPr>
          <p:cNvPr id="8" name="Text 6"/>
          <p:cNvSpPr/>
          <p:nvPr/>
        </p:nvSpPr>
        <p:spPr>
          <a:xfrm>
            <a:off x="868680" y="3639312"/>
            <a:ext cx="4389120" cy="365760"/>
          </a:xfrm>
          <a:prstGeom prst="rect">
            <a:avLst/>
          </a:prstGeom>
          <a:noFill/>
          <a:ln/>
        </p:spPr>
        <p:txBody>
          <a:bodyPr wrap="square" lIns="0" tIns="0" rIns="0" bIns="0" rtlCol="0" anchor="ctr"/>
          <a:lstStyle/>
          <a:p>
            <a:pPr marL="0" indent="0">
              <a:buNone/>
            </a:pPr>
            <a:r>
              <a:rPr lang="en-US" sz="1100" dirty="0">
                <a:solidFill>
                  <a:srgbClr val="FFFFFF"/>
                </a:solidFill>
                <a:latin typeface="Arial" pitchFamily="34" charset="0"/>
                <a:ea typeface="Arial" pitchFamily="34" charset="-122"/>
                <a:cs typeface="Arial" pitchFamily="34" charset="-120"/>
              </a:rPr>
              <a:t>Get the prompt guide, SAFE framework,</a:t>
            </a:r>
            <a:endParaRPr lang="en-US" sz="1100" dirty="0"/>
          </a:p>
          <a:p>
            <a:pPr marL="0" indent="0">
              <a:buNone/>
            </a:pPr>
            <a:r>
              <a:rPr lang="en-US" sz="1100" dirty="0">
                <a:solidFill>
                  <a:srgbClr val="FFFFFF"/>
                </a:solidFill>
                <a:latin typeface="Arial" pitchFamily="34" charset="0"/>
                <a:ea typeface="Arial" pitchFamily="34" charset="-122"/>
                <a:cs typeface="Arial" pitchFamily="34" charset="-120"/>
              </a:rPr>
              <a:t>and demo workbook:</a:t>
            </a:r>
            <a:endParaRPr lang="en-US" sz="1100" dirty="0"/>
          </a:p>
        </p:txBody>
      </p:sp>
      <p:sp>
        <p:nvSpPr>
          <p:cNvPr id="9" name="Text 7"/>
          <p:cNvSpPr/>
          <p:nvPr/>
        </p:nvSpPr>
        <p:spPr>
          <a:xfrm>
            <a:off x="868680" y="4023360"/>
            <a:ext cx="4389120" cy="274320"/>
          </a:xfrm>
          <a:prstGeom prst="rect">
            <a:avLst/>
          </a:prstGeom>
          <a:noFill/>
          <a:ln/>
        </p:spPr>
        <p:txBody>
          <a:bodyPr wrap="square" lIns="0" tIns="0" rIns="0" bIns="0" rtlCol="0" anchor="ctr"/>
          <a:lstStyle/>
          <a:p>
            <a:r>
              <a:rPr lang="en-US" sz="1600" b="1" dirty="0">
                <a:solidFill>
                  <a:schemeClr val="bg1"/>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https://swiy.co/Meonske26</a:t>
            </a:r>
            <a:endParaRPr lang="en-US" sz="1600" b="1" dirty="0">
              <a:solidFill>
                <a:schemeClr val="bg1"/>
              </a:solidFill>
            </a:endParaRPr>
          </a:p>
        </p:txBody>
      </p:sp>
      <p:sp>
        <p:nvSpPr>
          <p:cNvPr id="10" name="Text 8"/>
          <p:cNvSpPr/>
          <p:nvPr/>
        </p:nvSpPr>
        <p:spPr>
          <a:xfrm>
            <a:off x="868680" y="4315968"/>
            <a:ext cx="4389120" cy="320040"/>
          </a:xfrm>
          <a:prstGeom prst="rect">
            <a:avLst/>
          </a:prstGeom>
          <a:noFill/>
          <a:ln/>
        </p:spPr>
        <p:txBody>
          <a:bodyPr wrap="square" lIns="0" tIns="0" rIns="0" bIns="0" rtlCol="0" anchor="ctr"/>
          <a:lstStyle/>
          <a:p>
            <a:pPr marL="0" indent="0">
              <a:buNone/>
            </a:pPr>
            <a:r>
              <a:rPr lang="en-US" sz="1000" i="1" dirty="0">
                <a:solidFill>
                  <a:srgbClr val="FFFFFF"/>
                </a:solidFill>
                <a:latin typeface="Arial" pitchFamily="34" charset="0"/>
                <a:ea typeface="Arial" pitchFamily="34" charset="-122"/>
                <a:cs typeface="Arial" pitchFamily="34" charset="-120"/>
              </a:rPr>
              <a:t>I also work with teams on Excel training</a:t>
            </a:r>
            <a:endParaRPr lang="en-US" sz="1000" dirty="0"/>
          </a:p>
          <a:p>
            <a:pPr marL="0" indent="0">
              <a:buNone/>
            </a:pPr>
            <a:r>
              <a:rPr lang="en-US" sz="1000" i="1" dirty="0">
                <a:solidFill>
                  <a:srgbClr val="FFFFFF"/>
                </a:solidFill>
                <a:latin typeface="Arial" pitchFamily="34" charset="0"/>
                <a:ea typeface="Arial" pitchFamily="34" charset="-122"/>
                <a:cs typeface="Arial" pitchFamily="34" charset="-120"/>
              </a:rPr>
              <a:t>and AI adoption. Happy to chat.</a:t>
            </a:r>
            <a:endParaRPr lang="en-US" sz="1000" dirty="0"/>
          </a:p>
        </p:txBody>
      </p:sp>
      <p:sp>
        <p:nvSpPr>
          <p:cNvPr id="11" name="Text 9"/>
          <p:cNvSpPr/>
          <p:nvPr/>
        </p:nvSpPr>
        <p:spPr>
          <a:xfrm>
            <a:off x="6126480" y="1371600"/>
            <a:ext cx="2834640" cy="2286000"/>
          </a:xfrm>
          <a:prstGeom prst="rect">
            <a:avLst/>
          </a:prstGeom>
          <a:noFill/>
          <a:ln/>
        </p:spPr>
        <p:txBody>
          <a:bodyPr wrap="square" lIns="0" tIns="0" rIns="0" bIns="0" rtlCol="0" anchor="ctr"/>
          <a:lstStyle/>
          <a:p>
            <a:pPr marL="0" indent="0" algn="ctr">
              <a:buNone/>
            </a:pPr>
            <a:r>
              <a:rPr lang="en-US" sz="2600" b="1" dirty="0">
                <a:solidFill>
                  <a:srgbClr val="FFFFFF"/>
                </a:solidFill>
                <a:latin typeface="Arial Black" pitchFamily="34" charset="0"/>
                <a:ea typeface="Arial Black" pitchFamily="34" charset="-122"/>
                <a:cs typeface="Arial Black" pitchFamily="34" charset="-120"/>
              </a:rPr>
              <a:t>See you in</a:t>
            </a:r>
            <a:endParaRPr lang="en-US" sz="2600" dirty="0"/>
          </a:p>
          <a:p>
            <a:pPr marL="0" indent="0" algn="ctr">
              <a:buNone/>
            </a:pPr>
            <a:r>
              <a:rPr lang="en-US" sz="2600" b="1">
                <a:solidFill>
                  <a:srgbClr val="FFFFFF"/>
                </a:solidFill>
                <a:latin typeface="Arial Black" pitchFamily="34" charset="0"/>
                <a:ea typeface="Arial Black" pitchFamily="34" charset="-122"/>
                <a:cs typeface="Arial Black" pitchFamily="34" charset="-120"/>
              </a:rPr>
              <a:t>the lab!</a:t>
            </a:r>
            <a:endParaRPr lang="en-US" sz="2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C00000"/>
        </a:solidFill>
        <a:effectLst/>
      </p:bgPr>
    </p:bg>
    <p:spTree>
      <p:nvGrpSpPr>
        <p:cNvPr id="1" name=""/>
        <p:cNvGrpSpPr/>
        <p:nvPr/>
      </p:nvGrpSpPr>
      <p:grpSpPr>
        <a:xfrm>
          <a:off x="0" y="0"/>
          <a:ext cx="0" cy="0"/>
          <a:chOff x="0" y="0"/>
          <a:chExt cx="0" cy="0"/>
        </a:xfrm>
      </p:grpSpPr>
      <p:sp>
        <p:nvSpPr>
          <p:cNvPr id="2" name="Text 0"/>
          <p:cNvSpPr/>
          <p:nvPr/>
        </p:nvSpPr>
        <p:spPr>
          <a:xfrm>
            <a:off x="457200" y="1371600"/>
            <a:ext cx="8229600" cy="1097280"/>
          </a:xfrm>
          <a:prstGeom prst="rect">
            <a:avLst/>
          </a:prstGeom>
          <a:noFill/>
          <a:ln/>
        </p:spPr>
        <p:txBody>
          <a:bodyPr wrap="square" lIns="0" tIns="0" rIns="0" bIns="0" rtlCol="0" anchor="ctr"/>
          <a:lstStyle/>
          <a:p>
            <a:pPr marL="0" indent="0" algn="ctr">
              <a:buNone/>
            </a:pPr>
            <a:r>
              <a:rPr lang="en-US" sz="4400" b="1" dirty="0">
                <a:solidFill>
                  <a:srgbClr val="FFFFFF"/>
                </a:solidFill>
                <a:latin typeface="Arial Black" pitchFamily="34" charset="0"/>
                <a:ea typeface="Arial Black" pitchFamily="34" charset="-122"/>
                <a:cs typeface="Arial Black" pitchFamily="34" charset="-120"/>
              </a:rPr>
              <a:t>Thank you</a:t>
            </a:r>
            <a:endParaRPr lang="en-US" sz="4400" dirty="0"/>
          </a:p>
        </p:txBody>
      </p:sp>
      <p:sp>
        <p:nvSpPr>
          <p:cNvPr id="3" name="Text 1"/>
          <p:cNvSpPr/>
          <p:nvPr/>
        </p:nvSpPr>
        <p:spPr>
          <a:xfrm>
            <a:off x="457200" y="2926080"/>
            <a:ext cx="8229600" cy="457200"/>
          </a:xfrm>
          <a:prstGeom prst="rect">
            <a:avLst/>
          </a:prstGeom>
          <a:noFill/>
          <a:ln/>
        </p:spPr>
        <p:txBody>
          <a:bodyPr wrap="square" lIns="0" tIns="0" rIns="0" bIns="0" rtlCol="0" anchor="ctr"/>
          <a:lstStyle/>
          <a:p>
            <a:pPr marL="0" indent="0" algn="ctr">
              <a:buNone/>
            </a:pPr>
            <a:r>
              <a:rPr lang="en-US" sz="1400" dirty="0">
                <a:solidFill>
                  <a:srgbClr val="FFFFFF"/>
                </a:solidFill>
                <a:latin typeface="Arial" pitchFamily="34" charset="0"/>
                <a:ea typeface="Arial" pitchFamily="34" charset="-122"/>
                <a:cs typeface="Arial" pitchFamily="34" charset="-120"/>
              </a:rPr>
              <a:t>George Mount  |  Stringfest Analytics  |  stringfestanalytics.com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6247</Words>
  <Application>Microsoft Office PowerPoint</Application>
  <PresentationFormat>On-screen Show (16:9)</PresentationFormat>
  <Paragraphs>187</Paragraphs>
  <Slides>14</Slides>
  <Notes>14</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Arial Black</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Modern AI Excel Stack</dc:title>
  <dc:subject>PptxGenJS Presentation</dc:subject>
  <dc:creator>George Mount</dc:creator>
  <cp:lastModifiedBy>George Mount</cp:lastModifiedBy>
  <cp:revision>2</cp:revision>
  <dcterms:created xsi:type="dcterms:W3CDTF">2026-04-06T15:10:12Z</dcterms:created>
  <dcterms:modified xsi:type="dcterms:W3CDTF">2026-05-10T14:39:03Z</dcterms:modified>
</cp:coreProperties>
</file>