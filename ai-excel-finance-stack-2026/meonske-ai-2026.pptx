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425" r:id="rId3"/>
    <p:sldId id="426" r:id="rId4"/>
    <p:sldId id="435" r:id="rId5"/>
    <p:sldId id="436" r:id="rId6"/>
    <p:sldId id="407" r:id="rId7"/>
    <p:sldId id="437" r:id="rId8"/>
    <p:sldId id="438" r:id="rId9"/>
    <p:sldId id="439" r:id="rId10"/>
    <p:sldId id="428" r:id="rId11"/>
    <p:sldId id="440" r:id="rId12"/>
    <p:sldId id="415" r:id="rId13"/>
    <p:sldId id="427" r:id="rId14"/>
  </p:sldIdLst>
  <p:sldSz cx="18288000" cy="10287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684158-E8C8-9BE0-21EB-718D906F94A5}" name="George Mount" initials="GM" userId="S::george@stringfestanalytics.com::22d0b802-afc6-4b8f-ba57-7a855d96927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orge Mount" initials="GM" lastIdx="9" clrIdx="0">
    <p:extLst>
      <p:ext uri="{19B8F6BF-5375-455C-9EA6-DF929625EA0E}">
        <p15:presenceInfo xmlns:p15="http://schemas.microsoft.com/office/powerpoint/2012/main" userId="57d2ab2a84d54c8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3338"/>
    <a:srgbClr val="3D39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2" autoAdjust="0"/>
    <p:restoredTop sz="78463" autoAdjust="0"/>
  </p:normalViewPr>
  <p:slideViewPr>
    <p:cSldViewPr>
      <p:cViewPr varScale="1">
        <p:scale>
          <a:sx n="43" d="100"/>
          <a:sy n="43" d="100"/>
        </p:scale>
        <p:origin x="219" y="2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40" d="100"/>
        <a:sy n="1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A98A70-FA8C-4354-959C-C70678AC9BCF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500C5-13F7-48FC-8160-C29AECF6C6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3505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4549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EDD0E-7B26-6A40-B99C-1DB1BA641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C93FE2-3717-2EDA-F56E-5665D5A85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CE75D-996B-9833-1013-EAD9BB8A2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68AF92-EF6C-FA8B-D809-38ED0AB72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448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E22B3-BAA4-0BAA-67B7-A455E33D5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DA8D85-8EDB-320E-B82E-3D3DF0C09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E96F83-412B-A26C-C37C-A10F2595F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AA045-B911-BDFF-838C-B03FB3819A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875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4B1F5-1022-4CE3-A7AD-748C29390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021AD-DA3C-D2A8-6DCA-10B5C73F014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398A40-4575-A2B2-0DDD-B74DA6A81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951FB-F32F-3030-3950-0E80D0664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8794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/>
              <a:t>False!</a:t>
            </a:r>
          </a:p>
          <a:p>
            <a:pPr marL="228600" indent="-228600">
              <a:buAutoNum type="arabicPeriod"/>
            </a:pPr>
            <a:r>
              <a:rPr lang="en-US" dirty="0"/>
              <a:t>Function, Formula, Function</a:t>
            </a:r>
          </a:p>
          <a:p>
            <a:pPr marL="228600" indent="-228600">
              <a:buAutoNum type="arabicPeriod"/>
            </a:pPr>
            <a:r>
              <a:rPr lang="en-US" dirty="0"/>
              <a:t>Argument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00335D-9F13-4B80-ADC5-B0EA3E10FF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298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542796" y="4850092"/>
            <a:ext cx="4745204" cy="543581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-3440159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The Modern AI Excel Stack for Finance and Accounting Professionals </a:t>
            </a:r>
          </a:p>
        </p:txBody>
      </p:sp>
      <p:sp>
        <p:nvSpPr>
          <p:cNvPr id="2" name="AutoShape 2" descr="Home | Full Stack Modeller">
            <a:extLst>
              <a:ext uri="{FF2B5EF4-FFF2-40B4-BE49-F238E27FC236}">
                <a16:creationId xmlns:a16="http://schemas.microsoft.com/office/drawing/2014/main" id="{6CCAA77C-4E76-640C-066C-F3E39EE1AC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59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 dirty="0"/>
          </a:p>
        </p:txBody>
      </p:sp>
      <p:sp>
        <p:nvSpPr>
          <p:cNvPr id="5" name="TextBox 4"/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About me</a:t>
            </a:r>
          </a:p>
        </p:txBody>
      </p:sp>
      <p:pic>
        <p:nvPicPr>
          <p:cNvPr id="3" name="Picture 4" descr="Advancing into Analytics Cover Image">
            <a:extLst>
              <a:ext uri="{FF2B5EF4-FFF2-40B4-BE49-F238E27FC236}">
                <a16:creationId xmlns:a16="http://schemas.microsoft.com/office/drawing/2014/main" id="{588F684B-18EF-D76C-5F7B-15E4BAD606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8675" y="195638"/>
            <a:ext cx="3130385" cy="4088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97E0F267-87DF-961E-1FAA-47FD4F27A5C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691" y="6002696"/>
            <a:ext cx="7448309" cy="5462681"/>
          </a:xfrm>
          <a:prstGeom prst="rect">
            <a:avLst/>
          </a:prstGeom>
        </p:spPr>
      </p:pic>
      <p:pic>
        <p:nvPicPr>
          <p:cNvPr id="1026" name="Picture 2" descr="Modern data analytics in Excel book cover">
            <a:extLst>
              <a:ext uri="{FF2B5EF4-FFF2-40B4-BE49-F238E27FC236}">
                <a16:creationId xmlns:a16="http://schemas.microsoft.com/office/drawing/2014/main" id="{874ADA5E-A7A7-1D02-C728-513187DE1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8829" y="1736915"/>
            <a:ext cx="3437261" cy="4507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icrosoft Most Valuable Professional - Wikipedia">
            <a:extLst>
              <a:ext uri="{FF2B5EF4-FFF2-40B4-BE49-F238E27FC236}">
                <a16:creationId xmlns:a16="http://schemas.microsoft.com/office/drawing/2014/main" id="{36C71929-5967-B93D-05FE-E330D621C5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642" y="7832951"/>
            <a:ext cx="50577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 descr="Global Excel Summit (9-11 February 2022) - Microsoft Excel Conference">
            <a:extLst>
              <a:ext uri="{FF2B5EF4-FFF2-40B4-BE49-F238E27FC236}">
                <a16:creationId xmlns:a16="http://schemas.microsoft.com/office/drawing/2014/main" id="{A4A37758-F92B-49D0-9144-77DE1A40AF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397664" y="4795613"/>
            <a:ext cx="2901909" cy="2901909"/>
          </a:xfrm>
          <a:prstGeom prst="rect">
            <a:avLst/>
          </a:prstGeom>
        </p:spPr>
      </p:pic>
      <p:pic>
        <p:nvPicPr>
          <p:cNvPr id="7" name="Picture 6" descr="linkedinlearninginstructor #linkedinlearning | Thais Cooke | 80 comments">
            <a:extLst>
              <a:ext uri="{FF2B5EF4-FFF2-40B4-BE49-F238E27FC236}">
                <a16:creationId xmlns:a16="http://schemas.microsoft.com/office/drawing/2014/main" id="{C1E81082-DC04-E8C8-AF35-69591438D9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33407" y="4935896"/>
            <a:ext cx="5185833" cy="21336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DDDC47-548D-1287-3489-8B5D9DA3C477}"/>
              </a:ext>
            </a:extLst>
          </p:cNvPr>
          <p:cNvSpPr txBox="1"/>
          <p:nvPr/>
        </p:nvSpPr>
        <p:spPr>
          <a:xfrm>
            <a:off x="849234" y="2485315"/>
            <a:ext cx="661836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I help Excel users move from fragile spreadsheets</a:t>
            </a:r>
          </a:p>
          <a:p>
            <a:r>
              <a:rPr lang="en-US" sz="3600" b="1" dirty="0">
                <a:solidFill>
                  <a:schemeClr val="bg1"/>
                </a:solidFill>
              </a:rPr>
              <a:t>to confident, scalable analysis.</a:t>
            </a:r>
          </a:p>
        </p:txBody>
      </p:sp>
    </p:spTree>
    <p:extLst>
      <p:ext uri="{BB962C8B-B14F-4D97-AF65-F5344CB8AC3E}">
        <p14:creationId xmlns:p14="http://schemas.microsoft.com/office/powerpoint/2010/main" val="187290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520861" y="170082"/>
            <a:ext cx="1197979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Objectives for this session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0861" y="3191948"/>
            <a:ext cx="14393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Clean and prep data the modern, reliable way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Run forecasting and simulations in Python in Excel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Use Copilot for fast, defensible analysis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Understand where Scripts, Automate, and Agents actually fit</a:t>
            </a:r>
          </a:p>
          <a:p>
            <a:pPr marL="685800" indent="-685800">
              <a:buClr>
                <a:srgbClr val="CF3338"/>
              </a:buClr>
              <a:buFont typeface="Arial" panose="020B0604020202020204" pitchFamily="34" charset="0"/>
              <a:buChar char="•"/>
            </a:pPr>
            <a:r>
              <a:rPr lang="en-US" sz="4200" dirty="0">
                <a:solidFill>
                  <a:srgbClr val="707070"/>
                </a:solidFill>
                <a:latin typeface="Pragmatica" panose="020B0403040502020204" pitchFamily="34" charset="0"/>
              </a:rPr>
              <a:t>Build a practical modeling workflow you can use tomorrow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29761B90-A7DE-4A60-A915-F085BD87CA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07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2A2F7-CEB0-4209-DC3D-F249E9777F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AB21DD4-1E71-0731-A2B8-76CDA8683D46}"/>
              </a:ext>
            </a:extLst>
          </p:cNvPr>
          <p:cNvSpPr txBox="1"/>
          <p:nvPr/>
        </p:nvSpPr>
        <p:spPr>
          <a:xfrm>
            <a:off x="520861" y="170082"/>
            <a:ext cx="1197979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dirty="0">
                <a:latin typeface="Aliens &amp; cows" panose="00000500000000000000" pitchFamily="2" charset="0"/>
              </a:rPr>
              <a:t>The AI sweet spot</a:t>
            </a:r>
          </a:p>
        </p:txBody>
      </p:sp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67A43BF-28D5-E587-7263-F5E78BC8BD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sp>
        <p:nvSpPr>
          <p:cNvPr id="2" name="Arrow: Left-Right 1">
            <a:extLst>
              <a:ext uri="{FF2B5EF4-FFF2-40B4-BE49-F238E27FC236}">
                <a16:creationId xmlns:a16="http://schemas.microsoft.com/office/drawing/2014/main" id="{B25DAC54-5829-C2EE-04C9-18CD81CE9096}"/>
              </a:ext>
            </a:extLst>
          </p:cNvPr>
          <p:cNvSpPr/>
          <p:nvPr/>
        </p:nvSpPr>
        <p:spPr>
          <a:xfrm>
            <a:off x="1143000" y="3695700"/>
            <a:ext cx="15392400" cy="3733800"/>
          </a:xfrm>
          <a:prstGeom prst="leftRightArrow">
            <a:avLst/>
          </a:prstGeom>
          <a:solidFill>
            <a:srgbClr val="CF3338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F9E5D4-9FF2-2C0F-5B3F-7B2E307FA5D0}"/>
              </a:ext>
            </a:extLst>
          </p:cNvPr>
          <p:cNvSpPr/>
          <p:nvPr/>
        </p:nvSpPr>
        <p:spPr>
          <a:xfrm>
            <a:off x="6629400" y="4648200"/>
            <a:ext cx="3962400" cy="18288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dirty="0"/>
              <a:t>AI is just another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AC6237-2E9E-5783-FD0D-BC4939235463}"/>
              </a:ext>
            </a:extLst>
          </p:cNvPr>
          <p:cNvSpPr txBox="1"/>
          <p:nvPr/>
        </p:nvSpPr>
        <p:spPr>
          <a:xfrm>
            <a:off x="2667000" y="4991100"/>
            <a:ext cx="3657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AI is useless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16B48F-B4DE-EC2C-3E01-3DAE4467291D}"/>
              </a:ext>
            </a:extLst>
          </p:cNvPr>
          <p:cNvSpPr txBox="1"/>
          <p:nvPr/>
        </p:nvSpPr>
        <p:spPr>
          <a:xfrm>
            <a:off x="11125200" y="4839325"/>
            <a:ext cx="36576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AI will take my job</a:t>
            </a:r>
          </a:p>
        </p:txBody>
      </p:sp>
    </p:spTree>
    <p:extLst>
      <p:ext uri="{BB962C8B-B14F-4D97-AF65-F5344CB8AC3E}">
        <p14:creationId xmlns:p14="http://schemas.microsoft.com/office/powerpoint/2010/main" val="35234289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DDAFB-C39F-E1F1-239C-CC130F0E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3F99B048-238E-884E-F9CC-BE10034697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C5240-267F-C074-4137-482F2BB3C2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951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075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Auditable data cleaning with Power Query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Copilot to profile for dirty data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Build the reproducible pipeline with Power Query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Improve the documentation with Copilot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8715317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04CBBF-8FFC-E22C-8007-C2C9DD554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F9677D3-44B2-5B66-71B7-B1543A9DF4D8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731ED99-003F-9B63-0C97-20993D0F4B5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05B7C2-2826-D66C-4521-5694092DDB43}"/>
              </a:ext>
            </a:extLst>
          </p:cNvPr>
          <p:cNvSpPr txBox="1"/>
          <p:nvPr/>
        </p:nvSpPr>
        <p:spPr>
          <a:xfrm>
            <a:off x="260431" y="329879"/>
            <a:ext cx="8906720" cy="6296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Monte Carlo simulation with Copilot + Python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Specify parameters via natural language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Build the reproducible simulation with Python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EquitySnapshotClean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417352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7F86A-C9A1-36F7-63F4-518236B2C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FA93C5A-E306-615A-6570-3BDCB204E0E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563824-D714-5588-FCB3-54A382D2BC1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301B72-4635-023D-51BD-0B9F1FEDF896}"/>
              </a:ext>
            </a:extLst>
          </p:cNvPr>
          <p:cNvSpPr txBox="1"/>
          <p:nvPr/>
        </p:nvSpPr>
        <p:spPr>
          <a:xfrm>
            <a:off x="260431" y="329879"/>
            <a:ext cx="8906720" cy="7571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Agentic reasoning &amp; analysis </a:t>
            </a:r>
            <a:r>
              <a:rPr lang="en-US" sz="6000" b="1">
                <a:solidFill>
                  <a:srgbClr val="CF3338"/>
                </a:solidFill>
                <a:latin typeface="Pragmatica" panose="020B0403040502020204" pitchFamily="34" charset="0"/>
              </a:rPr>
              <a:t>with Analyst Agent</a:t>
            </a:r>
            <a:endParaRPr lang="en-US" sz="6000" b="1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Ask Agent Analyst to diagnose valuation patterns, outliers, and sector differences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Let the agent walk through its reasoning and show intermediate steps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its findings to draft a concise, defensible executive summary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2699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B882-454A-EA2E-95D8-625286901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D9137F-AB84-4A7D-C46D-CD5ECFE5D7F4}"/>
              </a:ext>
            </a:extLst>
          </p:cNvPr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65DE7AF-05B2-1DE1-C36A-524D3F1CCC2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D6D2621-E985-98E9-6041-1E91616B5A2A}"/>
              </a:ext>
            </a:extLst>
          </p:cNvPr>
          <p:cNvSpPr txBox="1"/>
          <p:nvPr/>
        </p:nvSpPr>
        <p:spPr>
          <a:xfrm>
            <a:off x="260431" y="329879"/>
            <a:ext cx="8906720" cy="84945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Automated workflows with Office Scripts &amp; Power Automate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Record an Office Script for a repetitive modeling step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Power Automate to trigger the script automatically on a schedule or event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Show how automation removes manual touchpoints without sacrificing control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6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6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36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1819728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9861630" y="0"/>
            <a:ext cx="842637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27" t="33418" r="20112" b="50548"/>
          <a:stretch/>
        </p:blipFill>
        <p:spPr>
          <a:xfrm>
            <a:off x="15579524" y="7544693"/>
            <a:ext cx="2708477" cy="29875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60431" y="329879"/>
            <a:ext cx="8906720" cy="7079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rgbClr val="CF3338"/>
                </a:solidFill>
                <a:latin typeface="Pragmatica" panose="020B0403040502020204" pitchFamily="34" charset="0"/>
              </a:rPr>
              <a:t>AI-assisted workflows with Agent Mode</a:t>
            </a:r>
          </a:p>
          <a:p>
            <a:endParaRPr lang="en-US" sz="4200" dirty="0">
              <a:solidFill>
                <a:srgbClr val="CF3338"/>
              </a:solidFill>
              <a:latin typeface="Pragmatica" panose="020B0403040502020204" pitchFamily="34" charset="0"/>
            </a:endParaRP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Use Agent Mode to coordinate multi-step tasks across sheets, tables, and tools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Let the agent combine formulas, charts, and explanations into one workflow</a:t>
            </a:r>
          </a:p>
          <a:p>
            <a:pPr marL="685800" indent="-54292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  <a:buFont typeface="Arial"/>
              <a:buAutoNum type="arabicPeriod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Review and approve its output to ensure accuracy and maintain auditability</a:t>
            </a:r>
            <a:endParaRPr lang="en-US" sz="3200" dirty="0">
              <a:solidFill>
                <a:srgbClr val="C00000"/>
              </a:solidFill>
              <a:latin typeface="Consolas" panose="020B0609020204030204" pitchFamily="49" charset="0"/>
              <a:sym typeface="Consolas"/>
            </a:endParaRPr>
          </a:p>
          <a:p>
            <a:pPr marL="142875">
              <a:lnSpc>
                <a:spcPct val="115000"/>
              </a:lnSpc>
              <a:spcBef>
                <a:spcPts val="1125"/>
              </a:spcBef>
              <a:buClr>
                <a:srgbClr val="C00000"/>
              </a:buClr>
              <a:buSzPts val="2100"/>
            </a:pPr>
            <a:r>
              <a:rPr lang="en-US" sz="3200" dirty="0">
                <a:solidFill>
                  <a:srgbClr val="C00000"/>
                </a:solidFill>
                <a:latin typeface="Pragmatica" panose="020B0403040502020204"/>
                <a:sym typeface="Consolas"/>
              </a:rPr>
              <a:t>Worksheet: </a:t>
            </a:r>
            <a:r>
              <a:rPr lang="en-US" sz="3200" dirty="0" err="1">
                <a:solidFill>
                  <a:srgbClr val="C00000"/>
                </a:solidFill>
                <a:latin typeface="Consolas" panose="020B0609020204030204" pitchFamily="49" charset="0"/>
                <a:sym typeface="Consolas"/>
              </a:rPr>
              <a:t>EquitySnapshotPlus</a:t>
            </a:r>
            <a:endParaRPr lang="en-US" sz="6000" dirty="0">
              <a:solidFill>
                <a:srgbClr val="CF3338"/>
              </a:solidFill>
              <a:latin typeface="Pragmatica" panose="020B04030405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679221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4C72A-DF4F-3619-6A00-C42C9EFFE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close up of a sign&#10;&#10;Description automatically generated">
            <a:extLst>
              <a:ext uri="{FF2B5EF4-FFF2-40B4-BE49-F238E27FC236}">
                <a16:creationId xmlns:a16="http://schemas.microsoft.com/office/drawing/2014/main" id="{653C19F5-31E1-B871-222A-EE176EB1CD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41036" y="8058429"/>
            <a:ext cx="1942857" cy="22285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4145DF-B19E-A76D-EA90-329D749FD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533400"/>
            <a:ext cx="9220200" cy="922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155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28" t="56371"/>
          <a:stretch/>
        </p:blipFill>
        <p:spPr>
          <a:xfrm>
            <a:off x="12204691" y="3316148"/>
            <a:ext cx="6083309" cy="697085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07744" y="-3724155"/>
            <a:ext cx="15257208" cy="111898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6137" y="2531318"/>
            <a:ext cx="119797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rgbClr val="CF3338"/>
                </a:solidFill>
                <a:latin typeface="Pragmatica" panose="020B0403040502020204" pitchFamily="34" charset="0"/>
              </a:rPr>
              <a:t>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06221-5316-4BCF-9FDA-BDB95FF4A7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204691" y="3317239"/>
            <a:ext cx="6083309" cy="69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8607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323C9-D5F7-C820-78B9-E169BDF23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8971779-1F50-1702-DEC1-87CD482189F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F33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7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CC4C7B-C529-5329-03AC-796804551DC1}"/>
              </a:ext>
            </a:extLst>
          </p:cNvPr>
          <p:cNvSpPr txBox="1"/>
          <p:nvPr/>
        </p:nvSpPr>
        <p:spPr>
          <a:xfrm>
            <a:off x="781292" y="590309"/>
            <a:ext cx="1548692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900" b="1" dirty="0">
                <a:solidFill>
                  <a:schemeClr val="bg1"/>
                </a:solidFill>
                <a:latin typeface="Normafixed Tryout" panose="00000409000000000000" pitchFamily="49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578290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2676</TotalTime>
  <Words>321</Words>
  <Application>Microsoft Office PowerPoint</Application>
  <PresentationFormat>Custom</PresentationFormat>
  <Paragraphs>67</Paragraphs>
  <Slides>13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Aliens &amp; cows</vt:lpstr>
      <vt:lpstr>Consolas</vt:lpstr>
      <vt:lpstr>Arial</vt:lpstr>
      <vt:lpstr>Pragmatica</vt:lpstr>
      <vt:lpstr>Calibri</vt:lpstr>
      <vt:lpstr>Normafixed Tryout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excel-statistics-for-business-analytics</dc:title>
  <dc:creator>User</dc:creator>
  <cp:lastModifiedBy>George Mount</cp:lastModifiedBy>
  <cp:revision>232</cp:revision>
  <dcterms:created xsi:type="dcterms:W3CDTF">2006-08-16T00:00:00Z</dcterms:created>
  <dcterms:modified xsi:type="dcterms:W3CDTF">2026-01-07T18:24:32Z</dcterms:modified>
  <dc:identifier>DADurESpNu8</dc:identifier>
</cp:coreProperties>
</file>